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各位老师好，我汇报的题目是精密制造车间智能质量管控与预测性维护决策支持平台。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这个系统面向精密机加工车间，把质量预测、设备健康和生产排产整合到一个 B/S 平台上。</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下面从背景、方案、数据集、四个技术方向、界面和调试几个部分展开。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汇报分七个部分：先讲背景痛点，再讲总体方案和数据。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重点在第四部分，四个技术方向分别对应课程的四个章节。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最后看界面、调试和总结。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车间里最头疼的就是这两件事。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质量问题等到质检才暴露，前面多道工序全白费；设备一坏整条线停着等维修。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我们的目标就是把这两件事都从事后变成事前，并且让它们联动起来。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系统是标准 B/S 四层结构。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前端只做展示和交互，三个算法模块都在后端，前端通过 REST API 调用。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这样设计的原因是算法可以独立升级，不用动前端；数据持久化在数据库，刷新页面不丢。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数据分两块。工艺质检和传感器时序是我们自己按加工常识模拟的，量小直接进仓库。</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预测性维护的建模思路参考 NASA 公开的 C-MAPSS 数据集，它是这个领域最经典的基准。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预处理做了清洗、特征工程和标准化，标准化参数单独存文件，保证训练和推理口径一致。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第一个技术方向是工业大数据和特征工程。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原始传感器数据逐点采样不能直接用，我们用滑动窗口把它压成统计特征。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这里踩过一个坑：标准化参数训练和上线不一致会导致输出漂移，所以我们把它单独存文件。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第二个方向是质量缺陷预测。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用户输入五个工艺参数，后端实时算缺陷概率，分低中高三档。</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更有用的是影响因子排序——告诉用户哪个参数影响最大，直接指导他调机，这比一个干巴巴的概率更有价值。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第三个方向是设备预测性维护。</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我们借 LSTM 的退化建模思路，根据振动、温度、电流三个指标离阈值多远，算一个 0 到 100 的健康分。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分四级预警，危险级直接提示停机检查。阈值是反复调过的，确保只有真退化到后期的设备才亮红灯。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第四个方向是智能排产。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用 CR 临界比率规则，越紧急的工单越先排，这比精确的运筹优化算得快、也好解释。</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关键是加了设备健康约束——健康分低于 50 的设备不排，让质量预测和设备维护真正联动起来。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系统一共五个页面。</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从看板进，看全局；录参数做质量预测；查设备健康；最后勾工单排产，形成完整闭环。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所有图表都是前端原生渲染，算法在后端真算，数据存数据库，刷新不丢。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调试这块讲五个真实踩过的坑。</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从最开始缺陷率太高、窗口越界报错，到预警阈值不合理、标准化口径不一致，再到排产设备冲突。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核心体会是：单个页面做完不算完，必须把整条业务流程跑通，这些问题才暴露得出来。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总结一下：我们完成了一个 B/S 全栈可运行的 Demo，覆盖课程四个章节，三个算法模块都是真算的。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不足也很清楚：质量预测现在还是规则、设备模块只借了 LSTM 思路、数据量小。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后续可以把真实模型、完整 RUL 预测和更优的排产算法接上去。我的汇报到这里，请老师批评指正。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C54">
                <a:alpha val="100000"/>
              </a:srgbClr>
            </a:gs>
            <a:gs pos="55000">
              <a:srgbClr val="003087">
                <a:alpha val="100000"/>
              </a:srgbClr>
            </a:gs>
            <a:gs pos="100000">
              <a:srgbClr val="0070B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016000" y="1143000"/>
            <a:ext cx="762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4E5F7"/>
                </a:solidFill>
                <a:latin typeface="Noto Sans SC" panose="020B0200000000000000" charset="-122"/>
                <a:ea typeface="Noto Sans SC" panose="020B0200000000000000" charset="-122"/>
                <a:cs typeface="Noto Sans SC" panose="020B0200000000000000" charset="-122"/>
                <a:sym typeface="Noto Sans SC" panose="020B0200000000000000" charset="-122"/>
              </a:rPr>
              <a:t>制造智能技术 · 课程设计汇报</a:t>
            </a:r>
            <a:endParaRPr lang="en-US" sz="1100"/>
          </a:p>
        </p:txBody>
      </p:sp>
      <p:cxnSp>
        <p:nvCxnSpPr>
          <p:cNvPr id="3" name="Connector 3"/>
          <p:cNvCxnSpPr/>
          <p:nvPr/>
        </p:nvCxnSpPr>
        <p:spPr>
          <a:xfrm rot="-42969">
            <a:off x="1016040" y="1708150"/>
            <a:ext cx="1016000" cy="12700"/>
          </a:xfrm>
          <a:prstGeom prst="straightConnector1">
            <a:avLst/>
          </a:prstGeom>
          <a:solidFill>
            <a:srgbClr val="DEE0E3">
              <a:alpha val="100000"/>
            </a:srgbClr>
          </a:solidFill>
          <a:ln w="38100" cap="flat" cmpd="sng">
            <a:solidFill>
              <a:srgbClr val="0070BA">
                <a:alpha val="100000"/>
              </a:srgbClr>
            </a:solidFill>
            <a:prstDash val="solid"/>
            <a:round/>
            <a:headEnd type="none" w="lg" len="lg"/>
            <a:tailEnd type="none" w="lg" len="lg"/>
          </a:ln>
        </p:spPr>
      </p:cxnSp>
      <p:sp>
        <p:nvSpPr>
          <p:cNvPr id="4" name="AutoShape 4"/>
          <p:cNvSpPr/>
          <p:nvPr/>
        </p:nvSpPr>
        <p:spPr>
          <a:xfrm>
            <a:off x="1016000" y="2159000"/>
            <a:ext cx="1016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精密制造车间智能质量管控与</a:t>
            </a:r>
            <a:endParaRPr lang="en-US" sz="1100"/>
          </a:p>
          <a:p>
            <a:pPr marL="0" indent="0" algn="l">
              <a:lnSpc>
                <a:spcPct val="100000"/>
              </a:lnSpc>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预测性维护决策支持平台</a:t>
            </a:r>
            <a:endPar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1016000" y="4191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D4E5F7"/>
                </a:solidFill>
                <a:latin typeface="Noto Sans SC" panose="020B0200000000000000" charset="-122"/>
                <a:ea typeface="Noto Sans SC" panose="020B0200000000000000" charset="-122"/>
                <a:cs typeface="Noto Sans SC" panose="020B0200000000000000" charset="-122"/>
                <a:sym typeface="Noto Sans SC" panose="020B0200000000000000" charset="-122"/>
              </a:rPr>
              <a:t>B/S 架构 · 质量预测 / 设备运维 / 智能排产 一体化决策</a:t>
            </a:r>
            <a:endParaRPr lang="en-US" sz="1100"/>
          </a:p>
        </p:txBody>
      </p:sp>
      <p:sp>
        <p:nvSpPr>
          <p:cNvPr id="6" name="AutoShape 6"/>
          <p:cNvSpPr/>
          <p:nvPr/>
        </p:nvSpPr>
        <p:spPr>
          <a:xfrm>
            <a:off x="1016000" y="59690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B4C8E6"/>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课程：制造智能技术　|　应用：全栈可运行 Demo　|　2026.09</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3" name="AutoShape 3"/>
          <p:cNvSpPr/>
          <p:nvPr/>
        </p:nvSpPr>
        <p:spPr>
          <a:xfrm>
            <a:off x="1016000" y="12700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sp>
        <p:nvSpPr>
          <p:cNvPr id="4" name="AutoShape 4"/>
          <p:cNvSpPr/>
          <p:nvPr/>
        </p:nvSpPr>
        <p:spPr>
          <a:xfrm>
            <a:off x="1016000" y="2159000"/>
            <a:ext cx="76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5" name="AutoShape 5"/>
          <p:cNvSpPr/>
          <p:nvPr/>
        </p:nvSpPr>
        <p:spPr>
          <a:xfrm>
            <a:off x="1778000" y="21336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研究背景与问题</a:t>
            </a:r>
            <a:endParaRPr lang="en-US" sz="1100"/>
          </a:p>
        </p:txBody>
      </p:sp>
      <p:sp>
        <p:nvSpPr>
          <p:cNvPr id="6" name="AutoShape 6"/>
          <p:cNvSpPr/>
          <p:nvPr/>
        </p:nvSpPr>
        <p:spPr>
          <a:xfrm>
            <a:off x="1778000" y="2514600"/>
            <a:ext cx="381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质量与设备两大车间痛点</a:t>
            </a:r>
            <a:endParaRPr lang="en-US" sz="1100"/>
          </a:p>
        </p:txBody>
      </p:sp>
      <p:cxnSp>
        <p:nvCxnSpPr>
          <p:cNvPr id="7" name="Connector 7"/>
          <p:cNvCxnSpPr/>
          <p:nvPr/>
        </p:nvCxnSpPr>
        <p:spPr>
          <a:xfrm rot="-9549">
            <a:off x="1016009" y="3016250"/>
            <a:ext cx="4572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8" name="AutoShape 8"/>
          <p:cNvSpPr/>
          <p:nvPr/>
        </p:nvSpPr>
        <p:spPr>
          <a:xfrm>
            <a:off x="1016000" y="3276600"/>
            <a:ext cx="76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9" name="AutoShape 9"/>
          <p:cNvSpPr/>
          <p:nvPr/>
        </p:nvSpPr>
        <p:spPr>
          <a:xfrm>
            <a:off x="1778000" y="32512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总体方案架构</a:t>
            </a:r>
            <a:endParaRPr lang="en-US" sz="1100"/>
          </a:p>
        </p:txBody>
      </p:sp>
      <p:sp>
        <p:nvSpPr>
          <p:cNvPr id="10" name="AutoShape 10"/>
          <p:cNvSpPr/>
          <p:nvPr/>
        </p:nvSpPr>
        <p:spPr>
          <a:xfrm>
            <a:off x="1778000" y="3632200"/>
            <a:ext cx="381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B/S 四层架构与业务流程</a:t>
            </a:r>
            <a:endParaRPr lang="en-US" sz="1100"/>
          </a:p>
        </p:txBody>
      </p:sp>
      <p:cxnSp>
        <p:nvCxnSpPr>
          <p:cNvPr id="11" name="Connector 11"/>
          <p:cNvCxnSpPr/>
          <p:nvPr/>
        </p:nvCxnSpPr>
        <p:spPr>
          <a:xfrm rot="-9549">
            <a:off x="1016009" y="4133850"/>
            <a:ext cx="4572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2" name="AutoShape 12"/>
          <p:cNvSpPr/>
          <p:nvPr/>
        </p:nvSpPr>
        <p:spPr>
          <a:xfrm>
            <a:off x="1016000" y="4394200"/>
            <a:ext cx="76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3" name="AutoShape 13"/>
          <p:cNvSpPr/>
          <p:nvPr/>
        </p:nvSpPr>
        <p:spPr>
          <a:xfrm>
            <a:off x="1778000" y="43688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数据集构建</a:t>
            </a:r>
            <a:endParaRPr lang="en-US" sz="1100"/>
          </a:p>
        </p:txBody>
      </p:sp>
      <p:sp>
        <p:nvSpPr>
          <p:cNvPr id="14" name="AutoShape 14"/>
          <p:cNvSpPr/>
          <p:nvPr/>
        </p:nvSpPr>
        <p:spPr>
          <a:xfrm>
            <a:off x="1778000" y="4749800"/>
            <a:ext cx="381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模拟工艺/传感器数据 + C-MAPSS</a:t>
            </a:r>
            <a:endParaRPr lang="en-US" sz="1100"/>
          </a:p>
        </p:txBody>
      </p:sp>
      <p:cxnSp>
        <p:nvCxnSpPr>
          <p:cNvPr id="15" name="Connector 15"/>
          <p:cNvCxnSpPr/>
          <p:nvPr/>
        </p:nvCxnSpPr>
        <p:spPr>
          <a:xfrm rot="-9549">
            <a:off x="1016009" y="5251450"/>
            <a:ext cx="4572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6" name="AutoShape 16"/>
          <p:cNvSpPr/>
          <p:nvPr/>
        </p:nvSpPr>
        <p:spPr>
          <a:xfrm>
            <a:off x="1016000" y="5511800"/>
            <a:ext cx="76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7" name="AutoShape 17"/>
          <p:cNvSpPr/>
          <p:nvPr/>
        </p:nvSpPr>
        <p:spPr>
          <a:xfrm>
            <a:off x="1778000" y="5486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四个技术方向详细设计</a:t>
            </a:r>
            <a:endParaRPr lang="en-US" sz="1100"/>
          </a:p>
        </p:txBody>
      </p:sp>
      <p:sp>
        <p:nvSpPr>
          <p:cNvPr id="18" name="AutoShape 18"/>
          <p:cNvSpPr/>
          <p:nvPr/>
        </p:nvSpPr>
        <p:spPr>
          <a:xfrm>
            <a:off x="1778000" y="5867400"/>
            <a:ext cx="406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数据/ML/DL/调度 四章知识落地</a:t>
            </a:r>
            <a:endParaRPr lang="en-US" sz="1100"/>
          </a:p>
        </p:txBody>
      </p:sp>
      <p:sp>
        <p:nvSpPr>
          <p:cNvPr id="19" name="AutoShape 19"/>
          <p:cNvSpPr/>
          <p:nvPr/>
        </p:nvSpPr>
        <p:spPr>
          <a:xfrm>
            <a:off x="6604000" y="2159000"/>
            <a:ext cx="76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0" name="AutoShape 20"/>
          <p:cNvSpPr/>
          <p:nvPr/>
        </p:nvSpPr>
        <p:spPr>
          <a:xfrm>
            <a:off x="7366000" y="21336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系统界面展示</a:t>
            </a:r>
            <a:endParaRPr lang="en-US" sz="1100"/>
          </a:p>
        </p:txBody>
      </p:sp>
      <p:sp>
        <p:nvSpPr>
          <p:cNvPr id="21" name="AutoShape 21"/>
          <p:cNvSpPr/>
          <p:nvPr/>
        </p:nvSpPr>
        <p:spPr>
          <a:xfrm>
            <a:off x="7366000" y="2514600"/>
            <a:ext cx="381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五个页面与完整业务流程</a:t>
            </a:r>
            <a:endParaRPr lang="en-US" sz="1100"/>
          </a:p>
        </p:txBody>
      </p:sp>
      <p:cxnSp>
        <p:nvCxnSpPr>
          <p:cNvPr id="22" name="Connector 22"/>
          <p:cNvCxnSpPr/>
          <p:nvPr/>
        </p:nvCxnSpPr>
        <p:spPr>
          <a:xfrm rot="-9549">
            <a:off x="6604009" y="3016250"/>
            <a:ext cx="4572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3" name="AutoShape 23"/>
          <p:cNvSpPr/>
          <p:nvPr/>
        </p:nvSpPr>
        <p:spPr>
          <a:xfrm>
            <a:off x="6604000" y="3276600"/>
            <a:ext cx="76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24" name="AutoShape 24"/>
          <p:cNvSpPr/>
          <p:nvPr/>
        </p:nvSpPr>
        <p:spPr>
          <a:xfrm>
            <a:off x="7366000" y="32512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调试过程</a:t>
            </a:r>
            <a:endParaRPr lang="en-US" sz="1100"/>
          </a:p>
        </p:txBody>
      </p:sp>
      <p:sp>
        <p:nvSpPr>
          <p:cNvPr id="25" name="AutoShape 25"/>
          <p:cNvSpPr/>
          <p:nvPr/>
        </p:nvSpPr>
        <p:spPr>
          <a:xfrm>
            <a:off x="7366000" y="3632200"/>
            <a:ext cx="381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五个真实踩坑与解决</a:t>
            </a:r>
            <a:endParaRPr lang="en-US" sz="1100"/>
          </a:p>
        </p:txBody>
      </p:sp>
      <p:cxnSp>
        <p:nvCxnSpPr>
          <p:cNvPr id="26" name="Connector 26"/>
          <p:cNvCxnSpPr/>
          <p:nvPr/>
        </p:nvCxnSpPr>
        <p:spPr>
          <a:xfrm rot="-9549">
            <a:off x="6604009" y="4133850"/>
            <a:ext cx="4572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7" name="AutoShape 27"/>
          <p:cNvSpPr/>
          <p:nvPr/>
        </p:nvSpPr>
        <p:spPr>
          <a:xfrm>
            <a:off x="6604000" y="4394200"/>
            <a:ext cx="76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endParaRPr lang="en-US" sz="1100"/>
          </a:p>
        </p:txBody>
      </p:sp>
      <p:sp>
        <p:nvSpPr>
          <p:cNvPr id="28" name="AutoShape 28"/>
          <p:cNvSpPr/>
          <p:nvPr/>
        </p:nvSpPr>
        <p:spPr>
          <a:xfrm>
            <a:off x="7366000" y="43688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p:txBody>
      </p:sp>
      <p:sp>
        <p:nvSpPr>
          <p:cNvPr id="29" name="AutoShape 29"/>
          <p:cNvSpPr/>
          <p:nvPr/>
        </p:nvSpPr>
        <p:spPr>
          <a:xfrm>
            <a:off x="7366000" y="4749800"/>
            <a:ext cx="381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完成情况、不足与后续方向</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985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车间两大痛点：质量事后暴露、设备突发停机</a:t>
            </a:r>
            <a:endParaRPr lang="en-US" sz="1100"/>
          </a:p>
        </p:txBody>
      </p:sp>
      <p:cxnSp>
        <p:nvCxnSpPr>
          <p:cNvPr id="3" name="Connector 3"/>
          <p:cNvCxnSpPr/>
          <p:nvPr/>
        </p:nvCxnSpPr>
        <p:spPr>
          <a:xfrm rot="-85925">
            <a:off x="1016079" y="1365250"/>
            <a:ext cx="508000" cy="12700"/>
          </a:xfrm>
          <a:prstGeom prst="straightConnector1">
            <a:avLst/>
          </a:prstGeom>
          <a:solidFill>
            <a:srgbClr val="DEE0E3">
              <a:alpha val="100000"/>
            </a:srgbClr>
          </a:solidFill>
          <a:ln w="38100" cap="flat" cmpd="sng">
            <a:solidFill>
              <a:srgbClr val="0070BA">
                <a:alpha val="100000"/>
              </a:srgbClr>
            </a:solidFill>
            <a:prstDash val="solid"/>
            <a:round/>
            <a:headEnd type="none" w="lg" len="lg"/>
            <a:tailEnd type="none" w="lg" len="lg"/>
          </a:ln>
        </p:spPr>
      </p:cxnSp>
      <p:sp>
        <p:nvSpPr>
          <p:cNvPr id="4" name="AutoShape 4"/>
          <p:cNvSpPr/>
          <p:nvPr/>
        </p:nvSpPr>
        <p:spPr>
          <a:xfrm>
            <a:off x="1016000" y="1778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痛点一：质量问题事后才发现</a:t>
            </a:r>
            <a:endParaRPr lang="en-US" sz="1100"/>
          </a:p>
        </p:txBody>
      </p:sp>
      <p:sp>
        <p:nvSpPr>
          <p:cNvPr id="5" name="AutoShape 5"/>
          <p:cNvSpPr/>
          <p:nvPr/>
        </p:nvSpPr>
        <p:spPr>
          <a:xfrm>
            <a:off x="1016000" y="2286000"/>
            <a:ext cx="482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工序全部做完才抽检，等到质检发现尺寸超差，工件已走过好几道工序，工时、刀具、材料全部浪费，交期跟着延误。</a:t>
            </a:r>
            <a:endParaRPr lang="en-US" sz="1100"/>
          </a:p>
          <a:p>
            <a:pPr marL="0" indent="0" algn="l">
              <a:lnSpc>
                <a:spcPct val="133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不良到底由哪个工艺参数造成，老师傅凭经验猜，经常猜不准。</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350000" y="177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痛点二：设备突发非计划停机</a:t>
            </a:r>
            <a:endParaRPr lang="en-US" sz="1100"/>
          </a:p>
        </p:txBody>
      </p:sp>
      <p:sp>
        <p:nvSpPr>
          <p:cNvPr id="7" name="AutoShape 7"/>
          <p:cNvSpPr/>
          <p:nvPr/>
        </p:nvSpPr>
        <p:spPr>
          <a:xfrm>
            <a:off x="6350000" y="2286000"/>
            <a:ext cx="482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CNC 加工中心、主轴突发故障会打断整条产线，损失按小时计算。</a:t>
            </a:r>
            <a:endParaRPr lang="en-US" sz="1100"/>
          </a:p>
          <a:p>
            <a:pPr marL="0" indent="0" algn="l">
              <a:lnSpc>
                <a:spcPct val="133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事后维修代价大，定期保养要么过度维修、要么漏过早期劣化，成本与可靠性难兼顾。</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4297">
            <a:off x="1016004" y="4311650"/>
            <a:ext cx="10160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9" name="AutoShape 9"/>
          <p:cNvSpPr/>
          <p:nvPr/>
        </p:nvSpPr>
        <p:spPr>
          <a:xfrm>
            <a:off x="1016000" y="46355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设计目标</a:t>
            </a:r>
            <a:endParaRPr lang="en-US" sz="1100"/>
          </a:p>
        </p:txBody>
      </p:sp>
      <p:sp>
        <p:nvSpPr>
          <p:cNvPr id="10" name="AutoShape 10"/>
          <p:cNvSpPr/>
          <p:nvPr/>
        </p:nvSpPr>
        <p:spPr>
          <a:xfrm>
            <a:off x="1016000" y="50800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把"事后救火"变成"事前预测"：加工过程中预判质量风险并指出关键参数；根据传感器数据评估设备健康、提前安排保养；</a:t>
            </a:r>
            <a:endParaRPr lang="en-US" sz="1100"/>
          </a:p>
          <a:p>
            <a:pPr marL="0" indent="0" algn="l">
              <a:lnSpc>
                <a:spcPct val="142000"/>
              </a:lnSpc>
            </a:pPr>
            <a:r>
              <a:rPr lang="en-US" sz="15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并把设备健康状态接入排产，不让带病设备继续高强度运行。</a:t>
            </a:r>
            <a:endParaRPr lang="en-US" sz="15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B/S 四层架构：前端交互、后端算法、数据库分层解耦</a:t>
            </a:r>
            <a:endParaRPr lang="en-US" sz="1100"/>
          </a:p>
        </p:txBody>
      </p:sp>
      <p:cxnSp>
        <p:nvCxnSpPr>
          <p:cNvPr id="3" name="Connector 3"/>
          <p:cNvCxnSpPr/>
          <p:nvPr/>
        </p:nvCxnSpPr>
        <p:spPr>
          <a:xfrm rot="-85925">
            <a:off x="1016079" y="1263650"/>
            <a:ext cx="508000" cy="12700"/>
          </a:xfrm>
          <a:prstGeom prst="straightConnector1">
            <a:avLst/>
          </a:prstGeom>
          <a:solidFill>
            <a:srgbClr val="DEE0E3">
              <a:alpha val="100000"/>
            </a:srgbClr>
          </a:solidFill>
          <a:ln w="38100" cap="flat" cmpd="sng">
            <a:solidFill>
              <a:srgbClr val="0070BA">
                <a:alpha val="100000"/>
              </a:srgbClr>
            </a:solidFill>
            <a:prstDash val="solid"/>
            <a:round/>
            <a:headEnd type="none" w="lg" len="lg"/>
            <a:tailEnd type="none" w="lg" len="lg"/>
          </a:ln>
        </p:spPr>
      </p:cxnSp>
      <p:sp>
        <p:nvSpPr>
          <p:cNvPr id="4" name="AutoShape 4"/>
          <p:cNvSpPr/>
          <p:nvPr/>
        </p:nvSpPr>
        <p:spPr>
          <a:xfrm>
            <a:off x="1270000" y="1651000"/>
            <a:ext cx="9652000" cy="1016000"/>
          </a:xfrm>
          <a:prstGeom prst="roundRect">
            <a:avLst>
              <a:gd name="adj" fmla="val 0"/>
            </a:avLst>
          </a:prstGeom>
          <a:solidFill>
            <a:srgbClr val="D4E5F7">
              <a:alpha val="100000"/>
            </a:srgbClr>
          </a:solidFill>
          <a:ln w="127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524000" y="1778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 UI（浏览器）</a:t>
            </a:r>
            <a:endParaRPr lang="en-US" sz="1100"/>
          </a:p>
        </p:txBody>
      </p:sp>
      <p:sp>
        <p:nvSpPr>
          <p:cNvPr id="6" name="AutoShape 6"/>
          <p:cNvSpPr/>
          <p:nvPr/>
        </p:nvSpPr>
        <p:spPr>
          <a:xfrm>
            <a:off x="1524000" y="2159000"/>
            <a:ext cx="914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数据看板 · 质量预测 · 设备运维 · 智能排产 · 基础数据</a:t>
            </a:r>
            <a:endParaRPr lang="en-US" sz="1100"/>
          </a:p>
        </p:txBody>
      </p:sp>
      <p:cxnSp>
        <p:nvCxnSpPr>
          <p:cNvPr id="7" name="Connector 7"/>
          <p:cNvCxnSpPr/>
          <p:nvPr/>
        </p:nvCxnSpPr>
        <p:spPr>
          <a:xfrm rot="5267844">
            <a:off x="5930900" y="2851272"/>
            <a:ext cx="330200" cy="12700"/>
          </a:xfrm>
          <a:prstGeom prst="straightConnector1">
            <a:avLst/>
          </a:prstGeom>
          <a:solidFill>
            <a:srgbClr val="DEE0E3">
              <a:alpha val="100000"/>
            </a:srgbClr>
          </a:solidFill>
          <a:ln w="12700" cap="flat" cmpd="sng">
            <a:solidFill>
              <a:srgbClr val="64748B">
                <a:alpha val="100000"/>
              </a:srgbClr>
            </a:solidFill>
            <a:prstDash val="solid"/>
            <a:round/>
            <a:headEnd type="none" w="med" len="med"/>
            <a:tailEnd type="arrow" w="med" len="med"/>
          </a:ln>
        </p:spPr>
      </p:cxnSp>
      <p:sp>
        <p:nvSpPr>
          <p:cNvPr id="8" name="AutoShape 8"/>
          <p:cNvSpPr/>
          <p:nvPr/>
        </p:nvSpPr>
        <p:spPr>
          <a:xfrm>
            <a:off x="6286500" y="27432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REST API</a:t>
            </a:r>
            <a:endParaRPr lang="en-US" sz="1100"/>
          </a:p>
        </p:txBody>
      </p:sp>
      <p:sp>
        <p:nvSpPr>
          <p:cNvPr id="9" name="AutoShape 9"/>
          <p:cNvSpPr/>
          <p:nvPr/>
        </p:nvSpPr>
        <p:spPr>
          <a:xfrm>
            <a:off x="1270000" y="3073400"/>
            <a:ext cx="9652000" cy="1524000"/>
          </a:xfrm>
          <a:prstGeom prst="roundRect">
            <a:avLst>
              <a:gd name="adj" fmla="val 0"/>
            </a:avLst>
          </a:prstGeom>
          <a:solidFill>
            <a:srgbClr val="FFFFFF">
              <a:alpha val="100000"/>
            </a:srgbClr>
          </a:solidFill>
          <a:ln w="254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1524000" y="3200400"/>
            <a:ext cx="381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后端服务层（业务逻辑 + 算法）</a:t>
            </a:r>
            <a:endParaRPr lang="en-US" sz="1100"/>
          </a:p>
        </p:txBody>
      </p:sp>
      <p:sp>
        <p:nvSpPr>
          <p:cNvPr id="11" name="AutoShape 11"/>
          <p:cNvSpPr/>
          <p:nvPr/>
        </p:nvSpPr>
        <p:spPr>
          <a:xfrm>
            <a:off x="1524000" y="36195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质量缺陷预测推理</a:t>
            </a:r>
            <a:endParaRPr lang="en-US" sz="1100"/>
          </a:p>
          <a:p>
            <a:pPr marL="0" indent="0" algn="l">
              <a:lnSpc>
                <a:spcPct val="125000"/>
              </a:lnSpc>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设备健康分/RUL 计算</a:t>
            </a:r>
            <a:endPar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4826000" y="36195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CR 规则智能排产</a:t>
            </a:r>
            <a:endParaRPr lang="en-US" sz="1100"/>
          </a:p>
          <a:p>
            <a:pPr marL="0" indent="0" algn="l">
              <a:lnSpc>
                <a:spcPct val="125000"/>
              </a:lnSpc>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工单/设备/质检 CRUD</a:t>
            </a:r>
            <a:endPar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8128000" y="3619500"/>
            <a:ext cx="254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算法独立封装</a:t>
            </a:r>
            <a:endParaRPr lang="en-US" sz="1100"/>
          </a:p>
          <a:p>
            <a:pPr marL="0" indent="0" algn="l">
              <a:lnSpc>
                <a:spcPct val="125000"/>
              </a:lnSpc>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可替换不影响前端</a:t>
            </a:r>
            <a:endPar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4" name="Connector 14"/>
          <p:cNvCxnSpPr/>
          <p:nvPr/>
        </p:nvCxnSpPr>
        <p:spPr>
          <a:xfrm rot="5267844">
            <a:off x="5930900" y="4781672"/>
            <a:ext cx="330200" cy="12700"/>
          </a:xfrm>
          <a:prstGeom prst="straightConnector1">
            <a:avLst/>
          </a:prstGeom>
          <a:solidFill>
            <a:srgbClr val="DEE0E3">
              <a:alpha val="100000"/>
            </a:srgbClr>
          </a:solidFill>
          <a:ln w="12700" cap="flat" cmpd="sng">
            <a:solidFill>
              <a:srgbClr val="64748B">
                <a:alpha val="100000"/>
              </a:srgbClr>
            </a:solidFill>
            <a:prstDash val="solid"/>
            <a:round/>
            <a:headEnd type="none" w="med" len="med"/>
            <a:tailEnd type="arrow" w="med" len="med"/>
          </a:ln>
        </p:spPr>
      </p:cxnSp>
      <p:sp>
        <p:nvSpPr>
          <p:cNvPr id="15" name="AutoShape 15"/>
          <p:cNvSpPr/>
          <p:nvPr/>
        </p:nvSpPr>
        <p:spPr>
          <a:xfrm>
            <a:off x="1270000" y="5003800"/>
            <a:ext cx="9652000" cy="889000"/>
          </a:xfrm>
          <a:prstGeom prst="roundRect">
            <a:avLst>
              <a:gd name="adj" fmla="val 0"/>
            </a:avLst>
          </a:prstGeom>
          <a:solidFill>
            <a:srgbClr val="00308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524000" y="5130800"/>
            <a:ext cx="381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数据库（持久化）</a:t>
            </a:r>
            <a:endParaRPr lang="en-US" sz="1100"/>
          </a:p>
        </p:txBody>
      </p:sp>
      <p:sp>
        <p:nvSpPr>
          <p:cNvPr id="17" name="AutoShape 17"/>
          <p:cNvSpPr/>
          <p:nvPr/>
        </p:nvSpPr>
        <p:spPr>
          <a:xfrm>
            <a:off x="1524000" y="5486400"/>
            <a:ext cx="914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D4E5F7"/>
                </a:solidFill>
                <a:latin typeface="Noto Sans SC" panose="020B0200000000000000" charset="-122"/>
                <a:ea typeface="Noto Sans SC" panose="020B0200000000000000" charset="-122"/>
                <a:cs typeface="Noto Sans SC" panose="020B0200000000000000" charset="-122"/>
                <a:sym typeface="Noto Sans SC" panose="020B0200000000000000" charset="-122"/>
              </a:rPr>
              <a:t>设备 · 工单 · 质检记录 · 传感器时序 · 预测结果 · 排产结果</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数据集：自建模拟小数据入库，退化范式参考 C-MAPSS</a:t>
            </a:r>
            <a:endParaRPr lang="en-US" sz="1100"/>
          </a:p>
        </p:txBody>
      </p:sp>
      <p:cxnSp>
        <p:nvCxnSpPr>
          <p:cNvPr id="3" name="Connector 3"/>
          <p:cNvCxnSpPr/>
          <p:nvPr/>
        </p:nvCxnSpPr>
        <p:spPr>
          <a:xfrm rot="-85925">
            <a:off x="1016079" y="1263650"/>
            <a:ext cx="508000" cy="12700"/>
          </a:xfrm>
          <a:prstGeom prst="straightConnector1">
            <a:avLst/>
          </a:prstGeom>
          <a:solidFill>
            <a:srgbClr val="DEE0E3">
              <a:alpha val="100000"/>
            </a:srgbClr>
          </a:solidFill>
          <a:ln w="38100" cap="flat" cmpd="sng">
            <a:solidFill>
              <a:srgbClr val="0070BA">
                <a:alpha val="100000"/>
              </a:srgbClr>
            </a:solidFill>
            <a:prstDash val="solid"/>
            <a:round/>
            <a:headEnd type="none" w="lg" len="lg"/>
            <a:tailEnd type="none" w="lg" len="lg"/>
          </a:ln>
        </p:spPr>
      </p:cxnSp>
      <p:sp>
        <p:nvSpPr>
          <p:cNvPr id="4" name="AutoShape 4"/>
          <p:cNvSpPr/>
          <p:nvPr/>
        </p:nvSpPr>
        <p:spPr>
          <a:xfrm>
            <a:off x="1016000" y="1587500"/>
            <a:ext cx="508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自建模拟数据（小数据，直接入库 /data）</a:t>
            </a:r>
            <a:endParaRPr lang="en-US" sz="1100"/>
          </a:p>
        </p:txBody>
      </p:sp>
      <p:graphicFrame>
        <p:nvGraphicFramePr>
          <p:cNvPr id="5" name="Table 5"/>
          <p:cNvGraphicFramePr>
            <a:graphicFrameLocks noGrp="1"/>
          </p:cNvGraphicFramePr>
          <p:nvPr/>
        </p:nvGraphicFramePr>
        <p:xfrm>
          <a:off x="1016000" y="2032000"/>
          <a:ext cx="5080000" cy="1905000"/>
        </p:xfrm>
        <a:graphic>
          <a:graphicData uri="http://schemas.openxmlformats.org/drawingml/2006/table">
            <a:tbl>
              <a:tblPr>
                <a:effectLst/>
              </a:tblPr>
              <a:tblGrid>
                <a:gridCol w="2286000"/>
                <a:gridCol w="1397000"/>
                <a:gridCol w="1397000"/>
              </a:tblGrid>
              <a:tr h="520700">
                <a:tc>
                  <a:txBody>
                    <a:bodyPr rtlCol="0"/>
                    <a:lstStyle/>
                    <a:p>
                      <a:pPr marL="0"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a:t>
                      </a:r>
                      <a:endParaRPr lang="en-US" sz="1100"/>
                    </a:p>
                  </a:txBody>
                  <a:tcPr marL="101600" marR="101600" marT="101600" marB="101600" anchor="t" anchorCtr="0">
                    <a:lnL>
                      <a:noFill/>
                    </a:lnL>
                    <a:lnR>
                      <a:noFill/>
                    </a:lnR>
                    <a:lnT>
                      <a:noFill/>
                    </a:lnT>
                    <a:lnB>
                      <a:noFill/>
                    </a:lnB>
                    <a:solidFill>
                      <a:srgbClr val="003087">
                        <a:alpha val="100000"/>
                      </a:srgbClr>
                    </a:solidFill>
                  </a:tcPr>
                </a:tc>
                <a:tc>
                  <a:txBody>
                    <a:bodyPr rtlCol="0"/>
                    <a:lstStyle/>
                    <a:p>
                      <a:pPr marL="0"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规模</a:t>
                      </a:r>
                      <a:endParaRPr lang="en-US" sz="1100"/>
                    </a:p>
                  </a:txBody>
                  <a:tcPr marL="101600" marR="101600" marT="101600" marB="101600" anchor="t" anchorCtr="0">
                    <a:lnL>
                      <a:noFill/>
                    </a:lnL>
                    <a:lnR>
                      <a:noFill/>
                    </a:lnR>
                    <a:lnT>
                      <a:noFill/>
                    </a:lnT>
                    <a:lnB>
                      <a:noFill/>
                    </a:lnB>
                    <a:solidFill>
                      <a:srgbClr val="003087">
                        <a:alpha val="100000"/>
                      </a:srgbClr>
                    </a:solidFill>
                  </a:tcPr>
                </a:tc>
                <a:tc>
                  <a:txBody>
                    <a:bodyPr rtlCol="0"/>
                    <a:lstStyle/>
                    <a:p>
                      <a:pPr marL="0"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用途</a:t>
                      </a:r>
                      <a:endParaRPr lang="en-US" sz="1100"/>
                    </a:p>
                  </a:txBody>
                  <a:tcPr marL="101600" marR="101600" marT="101600" marB="101600" anchor="t" anchorCtr="0">
                    <a:lnL>
                      <a:noFill/>
                    </a:lnL>
                    <a:lnR>
                      <a:noFill/>
                    </a:lnR>
                    <a:lnT>
                      <a:noFill/>
                    </a:lnT>
                    <a:lnB>
                      <a:noFill/>
                    </a:lnB>
                    <a:solidFill>
                      <a:srgbClr val="003087">
                        <a:alpha val="100000"/>
                      </a:srgbClr>
                    </a:solidFill>
                  </a:tcPr>
                </a:tc>
              </a:tr>
              <a:tr h="698500">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工艺质检记录</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200 条</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质量预测</a:t>
                      </a:r>
                      <a:endParaRPr lang="en-US" sz="1100"/>
                    </a:p>
                  </a:txBody>
                  <a:tcPr marL="101600" marR="101600" marT="101600" marB="101600" anchor="t" anchorCtr="0">
                    <a:lnL>
                      <a:noFill/>
                    </a:lnL>
                    <a:lnR>
                      <a:noFill/>
                    </a:lnR>
                    <a:lnT>
                      <a:noFill/>
                    </a:lnT>
                    <a:lnB>
                      <a:noFill/>
                    </a:lnB>
                    <a:noFill/>
                  </a:tcPr>
                </a:tc>
              </a:tr>
              <a:tr h="685800">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传感器时序</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6台×120</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设备健康</a:t>
                      </a:r>
                      <a:endParaRPr lang="en-US" sz="1100"/>
                    </a:p>
                  </a:txBody>
                  <a:tcPr marL="101600" marR="101600" marT="101600" marB="101600" anchor="t" anchorCtr="0">
                    <a:lnL>
                      <a:noFill/>
                    </a:lnL>
                    <a:lnR>
                      <a:noFill/>
                    </a:lnR>
                    <a:lnT>
                      <a:noFill/>
                    </a:lnT>
                    <a:lnB>
                      <a:noFill/>
                    </a:lnB>
                    <a:noFill/>
                  </a:tcPr>
                </a:tc>
              </a:tr>
            </a:tbl>
          </a:graphicData>
        </a:graphic>
      </p:graphicFrame>
      <p:sp>
        <p:nvSpPr>
          <p:cNvPr id="6" name="AutoShape 6"/>
          <p:cNvSpPr/>
          <p:nvPr/>
        </p:nvSpPr>
        <p:spPr>
          <a:xfrm>
            <a:off x="6731000" y="15875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公开数据集参考</a:t>
            </a:r>
            <a:endParaRPr lang="en-US" sz="1100"/>
          </a:p>
        </p:txBody>
      </p:sp>
      <p:sp>
        <p:nvSpPr>
          <p:cNvPr id="7" name="AutoShape 7"/>
          <p:cNvSpPr/>
          <p:nvPr/>
        </p:nvSpPr>
        <p:spPr>
          <a:xfrm>
            <a:off x="6731000" y="2032000"/>
            <a:ext cx="4572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NASA C-MAPSS</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涡扇发动机退化数据集</a:t>
            </a:r>
            <a:endParaRPr lang="en-US" sz="1100"/>
          </a:p>
          <a:p>
            <a:pPr marL="0" indent="0" algn="l">
              <a:lnSpc>
                <a:spcPct val="133000"/>
              </a:lnSpc>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提供多传感器时序退化与 RUL 标签，是预测性维护经典基准。</a:t>
            </a:r>
            <a:endPar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本项目借鉴其"时序→健康退化"建模思路，迁移到制造设备，大文件不入库、仅引用官方链接。</a:t>
            </a:r>
            <a:endPar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4297">
            <a:off x="1016004" y="4311650"/>
            <a:ext cx="10160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9" name="AutoShape 9"/>
          <p:cNvSpPr/>
          <p:nvPr/>
        </p:nvSpPr>
        <p:spPr>
          <a:xfrm>
            <a:off x="1016000" y="4572000"/>
            <a:ext cx="254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预处理流水线</a:t>
            </a:r>
            <a:endParaRPr lang="en-US" sz="1100"/>
          </a:p>
        </p:txBody>
      </p:sp>
      <p:sp>
        <p:nvSpPr>
          <p:cNvPr id="10" name="AutoShape 10"/>
          <p:cNvSpPr/>
          <p:nvPr/>
        </p:nvSpPr>
        <p:spPr>
          <a:xfrm>
            <a:off x="1016000" y="50165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缺失值中位数填充 → 尺寸误差异常值截断 → 派生"材料去除率" → 材料 one-hot → z-score 标准化（参数存 JSON 供推理复用）</a:t>
            </a:r>
            <a:endParaRPr lang="en-US" sz="1100"/>
          </a:p>
          <a:p>
            <a:pPr marL="0" indent="0" algn="l">
              <a:lnSpc>
                <a:spcPct val="142000"/>
              </a:lnSpc>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传感器侧：10 步滑动窗口提取均值/标准差/最大值 → 计算 0–100 健康分与四级预警</a:t>
            </a:r>
            <a:endPar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76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3" name="AutoShape 3"/>
          <p:cNvSpPr/>
          <p:nvPr/>
        </p:nvSpPr>
        <p:spPr>
          <a:xfrm>
            <a:off x="1524000" y="635000"/>
            <a:ext cx="9652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工业大数据：滑动窗口把原始信号压成可用特征</a:t>
            </a:r>
            <a:endParaRPr lang="en-US" sz="1100"/>
          </a:p>
        </p:txBody>
      </p:sp>
      <p:cxnSp>
        <p:nvCxnSpPr>
          <p:cNvPr id="4" name="Connector 4"/>
          <p:cNvCxnSpPr/>
          <p:nvPr/>
        </p:nvCxnSpPr>
        <p:spPr>
          <a:xfrm rot="-85925">
            <a:off x="1016079" y="1263650"/>
            <a:ext cx="508000" cy="12700"/>
          </a:xfrm>
          <a:prstGeom prst="straightConnector1">
            <a:avLst/>
          </a:prstGeom>
          <a:solidFill>
            <a:srgbClr val="DEE0E3">
              <a:alpha val="100000"/>
            </a:srgbClr>
          </a:solidFill>
          <a:ln w="38100" cap="flat" cmpd="sng">
            <a:solidFill>
              <a:srgbClr val="0070BA">
                <a:alpha val="100000"/>
              </a:srgbClr>
            </a:solidFill>
            <a:prstDash val="solid"/>
            <a:round/>
            <a:headEnd type="none" w="lg" len="lg"/>
            <a:tailEnd type="none" w="lg" len="lg"/>
          </a:ln>
        </p:spPr>
      </p:cxnSp>
      <p:sp>
        <p:nvSpPr>
          <p:cNvPr id="5" name="AutoShape 5"/>
          <p:cNvSpPr/>
          <p:nvPr/>
        </p:nvSpPr>
        <p:spPr>
          <a:xfrm>
            <a:off x="1016000" y="16510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做了什么</a:t>
            </a:r>
            <a:endParaRPr lang="en-US" sz="1100"/>
          </a:p>
        </p:txBody>
      </p:sp>
      <p:sp>
        <p:nvSpPr>
          <p:cNvPr id="6" name="AutoShape 6"/>
          <p:cNvSpPr/>
          <p:nvPr/>
        </p:nvSpPr>
        <p:spPr>
          <a:xfrm>
            <a:off x="1016000" y="2095500"/>
            <a:ext cx="508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传感器原始数据逐点采样，噪声多、直接用数据量太大</a:t>
            </a:r>
            <a:endParaRPr lang="en-US" sz="1100"/>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用 10 步滑动窗口，把连续采样压成一组统计量</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均值反映整体水平，标准差反映波动，最大值捕捉冲击</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振动里的冲击信号对轴承故障最敏感，最大值不能省</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标准化参数存 JSON，后端推理复用同一套口径</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731000" y="1905000"/>
            <a:ext cx="1905000" cy="762000"/>
          </a:xfrm>
          <a:prstGeom prst="roundRect">
            <a:avLst>
              <a:gd name="adj" fmla="val 0"/>
            </a:avLst>
          </a:prstGeom>
          <a:solidFill>
            <a:srgbClr val="F1F5F9">
              <a:alpha val="100000"/>
            </a:srgbClr>
          </a:solidFill>
          <a:ln w="127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731000" y="2095500"/>
            <a:ext cx="1905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原始采样点</a:t>
            </a:r>
            <a:endParaRPr lang="en-US" sz="1100"/>
          </a:p>
        </p:txBody>
      </p:sp>
      <p:cxnSp>
        <p:nvCxnSpPr>
          <p:cNvPr id="9" name="Connector 9"/>
          <p:cNvCxnSpPr/>
          <p:nvPr/>
        </p:nvCxnSpPr>
        <p:spPr>
          <a:xfrm rot="-98194">
            <a:off x="8699591" y="2279650"/>
            <a:ext cx="444500" cy="12700"/>
          </a:xfrm>
          <a:prstGeom prst="straightConnector1">
            <a:avLst/>
          </a:prstGeom>
          <a:solidFill>
            <a:srgbClr val="DEE0E3">
              <a:alpha val="100000"/>
            </a:srgbClr>
          </a:solidFill>
          <a:ln w="12700" cap="flat" cmpd="sng">
            <a:solidFill>
              <a:srgbClr val="64748B">
                <a:alpha val="100000"/>
              </a:srgbClr>
            </a:solidFill>
            <a:prstDash val="solid"/>
            <a:round/>
            <a:headEnd type="none" w="med" len="med"/>
            <a:tailEnd type="arrow" w="med" len="med"/>
          </a:ln>
        </p:spPr>
      </p:cxnSp>
      <p:sp>
        <p:nvSpPr>
          <p:cNvPr id="10" name="AutoShape 10"/>
          <p:cNvSpPr/>
          <p:nvPr/>
        </p:nvSpPr>
        <p:spPr>
          <a:xfrm>
            <a:off x="9207500" y="1905000"/>
            <a:ext cx="1905000" cy="762000"/>
          </a:xfrm>
          <a:prstGeom prst="roundRect">
            <a:avLst>
              <a:gd name="adj" fmla="val 0"/>
            </a:avLst>
          </a:prstGeom>
          <a:solidFill>
            <a:srgbClr val="D4E5F7">
              <a:alpha val="100000"/>
            </a:srgbClr>
          </a:solidFill>
          <a:ln w="127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9207500" y="2032000"/>
            <a:ext cx="1905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10 步窗口</a:t>
            </a:r>
            <a:endParaRPr lang="en-US" sz="1100"/>
          </a:p>
          <a:p>
            <a:pPr marL="0" indent="0" algn="ctr">
              <a:lnSpc>
                <a:spcPct val="108000"/>
              </a:lnSpc>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均值/标准差/最大值</a:t>
            </a:r>
            <a:endPar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6731000" y="3175000"/>
            <a:ext cx="4318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关键经验</a:t>
            </a:r>
            <a:endParaRPr lang="en-US" sz="1100"/>
          </a:p>
          <a:p>
            <a:pPr marL="0" indent="0" algn="l">
              <a:lnSpc>
                <a:spcPct val="142000"/>
              </a:lnSpc>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训练和上线必须用同一份均值标准差，否则模型输出会漂。</a:t>
            </a:r>
            <a:endPar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所以预处理时算好的参数单独存文件，后端预测时读它，而不是临时再算。</a:t>
            </a:r>
            <a:endPar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13"/>
          <p:cNvCxnSpPr/>
          <p:nvPr/>
        </p:nvCxnSpPr>
        <p:spPr>
          <a:xfrm rot="-4297">
            <a:off x="1016004" y="5962650"/>
            <a:ext cx="10160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4" name="AutoShape 14"/>
          <p:cNvSpPr/>
          <p:nvPr/>
        </p:nvSpPr>
        <p:spPr>
          <a:xfrm>
            <a:off x="1016000" y="6096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对应课程章节：工业大数据技术 · 数据清洗与特征工程</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76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3" name="AutoShape 3"/>
          <p:cNvSpPr/>
          <p:nvPr/>
        </p:nvSpPr>
        <p:spPr>
          <a:xfrm>
            <a:off x="1524000" y="635000"/>
            <a:ext cx="9652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质量预测：实时算缺陷概率，并告诉工程师调哪个参数</a:t>
            </a:r>
            <a:endParaRPr lang="en-US" sz="1100"/>
          </a:p>
        </p:txBody>
      </p:sp>
      <p:cxnSp>
        <p:nvCxnSpPr>
          <p:cNvPr id="4" name="Connector 4"/>
          <p:cNvCxnSpPr/>
          <p:nvPr/>
        </p:nvCxnSpPr>
        <p:spPr>
          <a:xfrm rot="-85925">
            <a:off x="1016079" y="1263650"/>
            <a:ext cx="508000" cy="12700"/>
          </a:xfrm>
          <a:prstGeom prst="straightConnector1">
            <a:avLst/>
          </a:prstGeom>
          <a:solidFill>
            <a:srgbClr val="DEE0E3">
              <a:alpha val="100000"/>
            </a:srgbClr>
          </a:solidFill>
          <a:ln w="38100" cap="flat" cmpd="sng">
            <a:solidFill>
              <a:srgbClr val="0070BA">
                <a:alpha val="100000"/>
              </a:srgbClr>
            </a:solidFill>
            <a:prstDash val="solid"/>
            <a:round/>
            <a:headEnd type="none" w="lg" len="lg"/>
            <a:tailEnd type="none" w="lg" len="lg"/>
          </a:ln>
        </p:spPr>
      </p:cxnSp>
      <p:sp>
        <p:nvSpPr>
          <p:cNvPr id="5" name="AutoShape 5"/>
          <p:cNvSpPr/>
          <p:nvPr/>
        </p:nvSpPr>
        <p:spPr>
          <a:xfrm>
            <a:off x="1016000" y="16510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输入：五个工艺参数</a:t>
            </a:r>
            <a:endParaRPr lang="en-US" sz="1100"/>
          </a:p>
        </p:txBody>
      </p:sp>
      <p:sp>
        <p:nvSpPr>
          <p:cNvPr id="6" name="AutoShape 6"/>
          <p:cNvSpPr/>
          <p:nvPr/>
        </p:nvSpPr>
        <p:spPr>
          <a:xfrm>
            <a:off x="1016000" y="20955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主轴转速 · 进给量 · 切削深度</a:t>
            </a:r>
            <a:endParaRPr lang="en-US" sz="1100"/>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切削液温度 · 主轴负载</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切深过大、冷却不足、负载过高会显著提高缺陷概率</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1016000" y="36830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输出：概率 + 风险等级</a:t>
            </a:r>
            <a:endParaRPr lang="en-US" sz="1100"/>
          </a:p>
        </p:txBody>
      </p:sp>
      <p:sp>
        <p:nvSpPr>
          <p:cNvPr id="8" name="AutoShape 8"/>
          <p:cNvSpPr/>
          <p:nvPr/>
        </p:nvSpPr>
        <p:spPr>
          <a:xfrm>
            <a:off x="1016000" y="4127500"/>
            <a:ext cx="508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缺陷概率 0–1，仪表盘展示</a:t>
            </a:r>
            <a:endParaRPr lang="en-US" sz="1100"/>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风险分三档：低 &lt;0.3　中 0.3–0.6　高 &gt;0.6</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后端按危险项叠加概率，结果真实可算，不是写死</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731000" y="16510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影响因子排序（示例）</a:t>
            </a:r>
            <a:endParaRPr lang="en-US" sz="1100"/>
          </a:p>
        </p:txBody>
      </p:sp>
      <p:sp>
        <p:nvSpPr>
          <p:cNvPr id="10" name="AutoShape 10"/>
          <p:cNvSpPr/>
          <p:nvPr/>
        </p:nvSpPr>
        <p:spPr>
          <a:xfrm>
            <a:off x="6731000" y="215900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切削深度</a:t>
            </a:r>
            <a:endParaRPr lang="en-US" sz="1100"/>
          </a:p>
        </p:txBody>
      </p:sp>
      <p:sp>
        <p:nvSpPr>
          <p:cNvPr id="11" name="AutoShape 11"/>
          <p:cNvSpPr/>
          <p:nvPr/>
        </p:nvSpPr>
        <p:spPr>
          <a:xfrm>
            <a:off x="8255000" y="2159000"/>
            <a:ext cx="2540000" cy="203200"/>
          </a:xfrm>
          <a:prstGeom prst="roundRect">
            <a:avLst>
              <a:gd name="adj" fmla="val 0"/>
            </a:avLst>
          </a:prstGeom>
          <a:solidFill>
            <a:srgbClr val="0070B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858500" y="2133600"/>
            <a:ext cx="50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0.25</a:t>
            </a:r>
            <a:endParaRPr lang="en-US" sz="1100"/>
          </a:p>
        </p:txBody>
      </p:sp>
      <p:sp>
        <p:nvSpPr>
          <p:cNvPr id="13" name="AutoShape 13"/>
          <p:cNvSpPr/>
          <p:nvPr/>
        </p:nvSpPr>
        <p:spPr>
          <a:xfrm>
            <a:off x="6731000" y="260350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冷却液温度</a:t>
            </a:r>
            <a:endParaRPr lang="en-US" sz="1100"/>
          </a:p>
        </p:txBody>
      </p:sp>
      <p:sp>
        <p:nvSpPr>
          <p:cNvPr id="14" name="AutoShape 14"/>
          <p:cNvSpPr/>
          <p:nvPr/>
        </p:nvSpPr>
        <p:spPr>
          <a:xfrm>
            <a:off x="8255000" y="2603500"/>
            <a:ext cx="2032000" cy="203200"/>
          </a:xfrm>
          <a:prstGeom prst="roundRect">
            <a:avLst>
              <a:gd name="adj" fmla="val 0"/>
            </a:avLst>
          </a:prstGeom>
          <a:solidFill>
            <a:srgbClr val="0070B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0350500" y="2578100"/>
            <a:ext cx="50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0.20</a:t>
            </a:r>
            <a:endParaRPr lang="en-US" sz="1100"/>
          </a:p>
        </p:txBody>
      </p:sp>
      <p:sp>
        <p:nvSpPr>
          <p:cNvPr id="16" name="AutoShape 16"/>
          <p:cNvSpPr/>
          <p:nvPr/>
        </p:nvSpPr>
        <p:spPr>
          <a:xfrm>
            <a:off x="6731000" y="304800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主轴负载</a:t>
            </a:r>
            <a:endParaRPr lang="en-US" sz="1100"/>
          </a:p>
        </p:txBody>
      </p:sp>
      <p:sp>
        <p:nvSpPr>
          <p:cNvPr id="17" name="AutoShape 17"/>
          <p:cNvSpPr/>
          <p:nvPr/>
        </p:nvSpPr>
        <p:spPr>
          <a:xfrm>
            <a:off x="8255000" y="3048000"/>
            <a:ext cx="2032000" cy="203200"/>
          </a:xfrm>
          <a:prstGeom prst="roundRect">
            <a:avLst>
              <a:gd name="adj" fmla="val 0"/>
            </a:avLst>
          </a:prstGeom>
          <a:solidFill>
            <a:srgbClr val="0070B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350500" y="3022600"/>
            <a:ext cx="50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0.20</a:t>
            </a:r>
            <a:endParaRPr lang="en-US" sz="1100"/>
          </a:p>
        </p:txBody>
      </p:sp>
      <p:sp>
        <p:nvSpPr>
          <p:cNvPr id="19" name="AutoShape 19"/>
          <p:cNvSpPr/>
          <p:nvPr/>
        </p:nvSpPr>
        <p:spPr>
          <a:xfrm>
            <a:off x="6731000" y="349250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转速</a:t>
            </a:r>
            <a:endParaRPr lang="en-US" sz="1100"/>
          </a:p>
        </p:txBody>
      </p:sp>
      <p:sp>
        <p:nvSpPr>
          <p:cNvPr id="20" name="AutoShape 20"/>
          <p:cNvSpPr/>
          <p:nvPr/>
        </p:nvSpPr>
        <p:spPr>
          <a:xfrm>
            <a:off x="8255000" y="3492500"/>
            <a:ext cx="1016000" cy="203200"/>
          </a:xfrm>
          <a:prstGeom prst="roundRect">
            <a:avLst>
              <a:gd name="adj" fmla="val 0"/>
            </a:avLst>
          </a:prstGeom>
          <a:solidFill>
            <a:srgbClr val="94C5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334500" y="3467100"/>
            <a:ext cx="50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0.10</a:t>
            </a:r>
            <a:endParaRPr lang="en-US" sz="1100"/>
          </a:p>
        </p:txBody>
      </p:sp>
      <p:sp>
        <p:nvSpPr>
          <p:cNvPr id="22" name="AutoShape 22"/>
          <p:cNvSpPr/>
          <p:nvPr/>
        </p:nvSpPr>
        <p:spPr>
          <a:xfrm>
            <a:off x="6731000" y="4064000"/>
            <a:ext cx="457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把每个参数单独拉到极端值再算概率，变化大的说明影响大。</a:t>
            </a:r>
            <a:endParaRPr lang="en-US" sz="1100"/>
          </a:p>
          <a:p>
            <a:pPr marL="0" indent="0" algn="l">
              <a:lnSpc>
                <a:spcPct val="133000"/>
              </a:lnSpc>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工艺工程师据此直接知道：先调切深或降温，而不是盲目试。</a:t>
            </a:r>
            <a:endPar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3" name="Connector 23"/>
          <p:cNvCxnSpPr/>
          <p:nvPr/>
        </p:nvCxnSpPr>
        <p:spPr>
          <a:xfrm rot="-4297">
            <a:off x="1016004" y="5962650"/>
            <a:ext cx="10160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4" name="AutoShape 24"/>
          <p:cNvSpPr/>
          <p:nvPr/>
        </p:nvSpPr>
        <p:spPr>
          <a:xfrm>
            <a:off x="1016000" y="6096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对应课程章节：机器学习应用 · 分类预测与特征重要性</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76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3" name="AutoShape 3"/>
          <p:cNvSpPr/>
          <p:nvPr/>
        </p:nvSpPr>
        <p:spPr>
          <a:xfrm>
            <a:off x="1524000" y="635000"/>
            <a:ext cx="9652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预测性维护：按传感器退化计算健康分与预警</a:t>
            </a:r>
            <a:endParaRPr lang="en-US" sz="1100"/>
          </a:p>
        </p:txBody>
      </p:sp>
      <p:cxnSp>
        <p:nvCxnSpPr>
          <p:cNvPr id="4" name="Connector 4"/>
          <p:cNvCxnSpPr/>
          <p:nvPr/>
        </p:nvCxnSpPr>
        <p:spPr>
          <a:xfrm rot="-85925">
            <a:off x="1016079" y="1263650"/>
            <a:ext cx="508000" cy="12700"/>
          </a:xfrm>
          <a:prstGeom prst="straightConnector1">
            <a:avLst/>
          </a:prstGeom>
          <a:solidFill>
            <a:srgbClr val="DEE0E3">
              <a:alpha val="100000"/>
            </a:srgbClr>
          </a:solidFill>
          <a:ln w="38100" cap="flat" cmpd="sng">
            <a:solidFill>
              <a:srgbClr val="0070BA">
                <a:alpha val="100000"/>
              </a:srgbClr>
            </a:solidFill>
            <a:prstDash val="solid"/>
            <a:round/>
            <a:headEnd type="none" w="lg" len="lg"/>
            <a:tailEnd type="none" w="lg" len="lg"/>
          </a:ln>
        </p:spPr>
      </p:cxnSp>
      <p:sp>
        <p:nvSpPr>
          <p:cNvPr id="5" name="AutoShape 5"/>
          <p:cNvSpPr/>
          <p:nvPr/>
        </p:nvSpPr>
        <p:spPr>
          <a:xfrm>
            <a:off x="1016000" y="1651000"/>
            <a:ext cx="508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算法逻辑</a:t>
            </a:r>
            <a:endParaRPr lang="en-US" sz="1100"/>
          </a:p>
        </p:txBody>
      </p:sp>
      <p:sp>
        <p:nvSpPr>
          <p:cNvPr id="6" name="AutoShape 6"/>
          <p:cNvSpPr/>
          <p:nvPr/>
        </p:nvSpPr>
        <p:spPr>
          <a:xfrm>
            <a:off x="1016000" y="2095500"/>
            <a:ext cx="5334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取最近窗口的振动最大值、温度均值、电流均值，分别与正常上下限比较。</a:t>
            </a:r>
            <a:endParaRPr lang="en-US" sz="1100"/>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某维度健康分 = 1 − (当前值−下限)/(上限−下限)，三维度平均得总分。</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借 LSTM 时序退化预测思路：设备随运行时长单调劣化。</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1016000" y="4191000"/>
            <a:ext cx="508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四级预警</a:t>
            </a:r>
            <a:endParaRPr lang="en-US" sz="1100"/>
          </a:p>
        </p:txBody>
      </p:sp>
      <p:sp>
        <p:nvSpPr>
          <p:cNvPr id="8" name="AutoShape 8"/>
          <p:cNvSpPr/>
          <p:nvPr/>
        </p:nvSpPr>
        <p:spPr>
          <a:xfrm>
            <a:off x="1016000" y="4635500"/>
            <a:ext cx="533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228B57"/>
                </a:solidFill>
                <a:latin typeface="Noto Sans SC" panose="020B0200000000000000" charset="-122"/>
                <a:ea typeface="Noto Sans SC" panose="020B0200000000000000" charset="-122"/>
                <a:cs typeface="Noto Sans SC" panose="020B0200000000000000" charset="-122"/>
                <a:sym typeface="Noto Sans SC" panose="020B0200000000000000" charset="-122"/>
              </a:rPr>
              <a:t>● 正常</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≥70　　</a:t>
            </a:r>
            <a:r>
              <a:rPr lang="en-US" sz="1300" b="0" i="0" u="none" strike="noStrike">
                <a:solidFill>
                  <a:srgbClr val="CA8A04"/>
                </a:solidFill>
                <a:latin typeface="Noto Sans SC" panose="020B0200000000000000" charset="-122"/>
                <a:ea typeface="Noto Sans SC" panose="020B0200000000000000" charset="-122"/>
                <a:cs typeface="Noto Sans SC" panose="020B0200000000000000" charset="-122"/>
                <a:sym typeface="Noto Sans SC" panose="020B0200000000000000" charset="-122"/>
              </a:rPr>
              <a:t>● 关注</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50–70</a:t>
            </a:r>
            <a:endParaRPr lang="en-US" sz="1100"/>
          </a:p>
          <a:p>
            <a:pPr marL="0" indent="0" algn="l">
              <a:lnSpc>
                <a:spcPct val="133000"/>
              </a:lnSpc>
            </a:pPr>
            <a:r>
              <a:rPr lang="en-US" sz="1300" b="0"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 预警</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30–50　　</a:t>
            </a:r>
            <a:r>
              <a:rPr lang="en-US" sz="1300" b="0"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 危险</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&lt;30</a:t>
            </a:r>
            <a:endPar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危险级自动提示"建议立即停机检查主轴"</a:t>
            </a:r>
            <a:endPar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858000" y="16510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设备健康分随运行周期退化（示意）</a:t>
            </a:r>
            <a:endParaRPr lang="en-US" sz="1100"/>
          </a:p>
        </p:txBody>
      </p:sp>
      <p:cxnSp>
        <p:nvCxnSpPr>
          <p:cNvPr id="10" name="Connector 10"/>
          <p:cNvCxnSpPr/>
          <p:nvPr/>
        </p:nvCxnSpPr>
        <p:spPr>
          <a:xfrm rot="-11459">
            <a:off x="7112011" y="5327650"/>
            <a:ext cx="3810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cxnSp>
        <p:nvCxnSpPr>
          <p:cNvPr id="11" name="Connector 11"/>
          <p:cNvCxnSpPr/>
          <p:nvPr/>
        </p:nvCxnSpPr>
        <p:spPr>
          <a:xfrm rot="5386777">
            <a:off x="5461000" y="3676662"/>
            <a:ext cx="33020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cxnSp>
        <p:nvCxnSpPr>
          <p:cNvPr id="12" name="Connector 12"/>
          <p:cNvCxnSpPr/>
          <p:nvPr/>
        </p:nvCxnSpPr>
        <p:spPr>
          <a:xfrm>
            <a:off x="7112000" y="2032000"/>
            <a:ext cx="3810000" cy="3302000"/>
          </a:xfrm>
          <a:prstGeom prst="curvedConnector2">
            <a:avLst/>
          </a:prstGeom>
          <a:solidFill>
            <a:srgbClr val="DEE0E3">
              <a:alpha val="100000"/>
            </a:srgbClr>
          </a:solidFill>
          <a:ln w="25400" cap="flat" cmpd="sng">
            <a:solidFill>
              <a:srgbClr val="0070BA">
                <a:alpha val="100000"/>
              </a:srgbClr>
            </a:solidFill>
            <a:prstDash val="solid"/>
            <a:round/>
            <a:headEnd type="none" w="lg" len="lg"/>
            <a:tailEnd type="none" w="lg" len="lg"/>
          </a:ln>
        </p:spPr>
      </p:cxnSp>
      <p:sp>
        <p:nvSpPr>
          <p:cNvPr id="13" name="AutoShape 13"/>
          <p:cNvSpPr/>
          <p:nvPr/>
        </p:nvSpPr>
        <p:spPr>
          <a:xfrm>
            <a:off x="7112000" y="209550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228B57"/>
                </a:solidFill>
                <a:latin typeface="Noto Sans SC" panose="020B0200000000000000" charset="-122"/>
                <a:ea typeface="Noto Sans SC" panose="020B0200000000000000" charset="-122"/>
                <a:cs typeface="Noto Sans SC" panose="020B0200000000000000" charset="-122"/>
                <a:sym typeface="Noto Sans SC" panose="020B0200000000000000" charset="-122"/>
              </a:rPr>
              <a:t>健康 100</a:t>
            </a:r>
            <a:endParaRPr lang="en-US" sz="1100"/>
          </a:p>
        </p:txBody>
      </p:sp>
      <p:sp>
        <p:nvSpPr>
          <p:cNvPr id="14" name="AutoShape 14"/>
          <p:cNvSpPr/>
          <p:nvPr/>
        </p:nvSpPr>
        <p:spPr>
          <a:xfrm>
            <a:off x="9906000" y="5080000"/>
            <a:ext cx="127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 寿命终点</a:t>
            </a:r>
            <a:endParaRPr lang="en-US" sz="1100"/>
          </a:p>
        </p:txBody>
      </p:sp>
      <p:cxnSp>
        <p:nvCxnSpPr>
          <p:cNvPr id="15" name="Connector 15"/>
          <p:cNvCxnSpPr/>
          <p:nvPr/>
        </p:nvCxnSpPr>
        <p:spPr>
          <a:xfrm rot="-4297">
            <a:off x="1016004" y="5962650"/>
            <a:ext cx="10160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6" name="AutoShape 16"/>
          <p:cNvSpPr/>
          <p:nvPr/>
        </p:nvSpPr>
        <p:spPr>
          <a:xfrm>
            <a:off x="1016000" y="6096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对应课程章节：深度学习 / 预测性维护 · LSTM 退化建模思路</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76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3" name="AutoShape 3"/>
          <p:cNvSpPr/>
          <p:nvPr/>
        </p:nvSpPr>
        <p:spPr>
          <a:xfrm>
            <a:off x="1524000" y="635000"/>
            <a:ext cx="9652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智能排产：CR 规则排序，同时避开带病设备</a:t>
            </a:r>
            <a:endParaRPr lang="en-US" sz="1100"/>
          </a:p>
        </p:txBody>
      </p:sp>
      <p:cxnSp>
        <p:nvCxnSpPr>
          <p:cNvPr id="4" name="Connector 4"/>
          <p:cNvCxnSpPr/>
          <p:nvPr/>
        </p:nvCxnSpPr>
        <p:spPr>
          <a:xfrm rot="-85925">
            <a:off x="1016079" y="1263650"/>
            <a:ext cx="508000" cy="12700"/>
          </a:xfrm>
          <a:prstGeom prst="straightConnector1">
            <a:avLst/>
          </a:prstGeom>
          <a:solidFill>
            <a:srgbClr val="DEE0E3">
              <a:alpha val="100000"/>
            </a:srgbClr>
          </a:solidFill>
          <a:ln w="38100" cap="flat" cmpd="sng">
            <a:solidFill>
              <a:srgbClr val="0070BA">
                <a:alpha val="100000"/>
              </a:srgbClr>
            </a:solidFill>
            <a:prstDash val="solid"/>
            <a:round/>
            <a:headEnd type="none" w="lg" len="lg"/>
            <a:tailEnd type="none" w="lg" len="lg"/>
          </a:ln>
        </p:spPr>
      </p:cxnSp>
      <p:sp>
        <p:nvSpPr>
          <p:cNvPr id="5" name="AutoShape 5"/>
          <p:cNvSpPr/>
          <p:nvPr/>
        </p:nvSpPr>
        <p:spPr>
          <a:xfrm>
            <a:off x="1016000" y="1651000"/>
            <a:ext cx="508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排产规则</a:t>
            </a:r>
            <a:endParaRPr lang="en-US" sz="1100"/>
          </a:p>
        </p:txBody>
      </p:sp>
      <p:sp>
        <p:nvSpPr>
          <p:cNvPr id="6" name="AutoShape 6"/>
          <p:cNvSpPr/>
          <p:nvPr/>
        </p:nvSpPr>
        <p:spPr>
          <a:xfrm>
            <a:off x="1016000" y="2095500"/>
            <a:ext cx="533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CR 临界比率规则：</a:t>
            </a:r>
            <a:endParaRPr lang="en-US" sz="1100"/>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CR = 剩余交期天数 / 剩余加工工时</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CR 越小越紧急，先排；规则算得快、好解释，一线听得懂。</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1016000" y="3937000"/>
            <a:ext cx="508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与设备健康联动</a:t>
            </a:r>
            <a:endParaRPr lang="en-US" sz="1100"/>
          </a:p>
        </p:txBody>
      </p:sp>
      <p:sp>
        <p:nvSpPr>
          <p:cNvPr id="8" name="AutoShape 8"/>
          <p:cNvSpPr/>
          <p:nvPr/>
        </p:nvSpPr>
        <p:spPr>
          <a:xfrm>
            <a:off x="1016000" y="4381500"/>
            <a:ext cx="533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分配设备时，健康分低于 50 的设备直接跳过——不让带病设备继续高强度运行。</a:t>
            </a:r>
            <a:endParaRPr lang="en-US" sz="1100"/>
          </a:p>
          <a:p>
            <a:pPr marL="0" indent="0" algn="l">
              <a:lnSpc>
                <a:spcPct val="142000"/>
              </a:lnSpc>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每个工单找健康、负荷未满的设备，算出预计开始/结束时间。</a:t>
            </a:r>
            <a:endPar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858000" y="16510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排产流程</a:t>
            </a:r>
            <a:endParaRPr lang="en-US" sz="1100"/>
          </a:p>
        </p:txBody>
      </p:sp>
      <p:sp>
        <p:nvSpPr>
          <p:cNvPr id="10" name="AutoShape 10"/>
          <p:cNvSpPr/>
          <p:nvPr/>
        </p:nvSpPr>
        <p:spPr>
          <a:xfrm>
            <a:off x="7112000" y="2095500"/>
            <a:ext cx="3810000" cy="558800"/>
          </a:xfrm>
          <a:prstGeom prst="roundRect">
            <a:avLst>
              <a:gd name="adj" fmla="val 0"/>
            </a:avLst>
          </a:prstGeom>
          <a:solidFill>
            <a:srgbClr val="F1F5F9">
              <a:alpha val="100000"/>
            </a:srgbClr>
          </a:solidFill>
          <a:ln w="127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112000" y="2235200"/>
            <a:ext cx="3810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1. 计算所有工单 CR 值</a:t>
            </a:r>
            <a:endParaRPr lang="en-US" sz="1100"/>
          </a:p>
        </p:txBody>
      </p:sp>
      <p:cxnSp>
        <p:nvCxnSpPr>
          <p:cNvPr id="12" name="Connector 12"/>
          <p:cNvCxnSpPr/>
          <p:nvPr/>
        </p:nvCxnSpPr>
        <p:spPr>
          <a:xfrm rot="5228255">
            <a:off x="8890000" y="2813209"/>
            <a:ext cx="254000" cy="12700"/>
          </a:xfrm>
          <a:prstGeom prst="straightConnector1">
            <a:avLst/>
          </a:prstGeom>
          <a:solidFill>
            <a:srgbClr val="DEE0E3">
              <a:alpha val="100000"/>
            </a:srgbClr>
          </a:solidFill>
          <a:ln w="12700" cap="flat" cmpd="sng">
            <a:solidFill>
              <a:srgbClr val="64748B">
                <a:alpha val="100000"/>
              </a:srgbClr>
            </a:solidFill>
            <a:prstDash val="solid"/>
            <a:round/>
            <a:headEnd type="none" w="med" len="med"/>
            <a:tailEnd type="arrow" w="med" len="med"/>
          </a:ln>
        </p:spPr>
      </p:cxnSp>
      <p:sp>
        <p:nvSpPr>
          <p:cNvPr id="13" name="AutoShape 13"/>
          <p:cNvSpPr/>
          <p:nvPr/>
        </p:nvSpPr>
        <p:spPr>
          <a:xfrm>
            <a:off x="7112000" y="2997200"/>
            <a:ext cx="3810000" cy="558800"/>
          </a:xfrm>
          <a:prstGeom prst="roundRect">
            <a:avLst>
              <a:gd name="adj" fmla="val 0"/>
            </a:avLst>
          </a:prstGeom>
          <a:solidFill>
            <a:srgbClr val="F1F5F9">
              <a:alpha val="100000"/>
            </a:srgbClr>
          </a:solidFill>
          <a:ln w="127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112000" y="3136900"/>
            <a:ext cx="3810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2. 按 CR 从小到大排序</a:t>
            </a:r>
            <a:endParaRPr lang="en-US" sz="1100"/>
          </a:p>
        </p:txBody>
      </p:sp>
      <p:cxnSp>
        <p:nvCxnSpPr>
          <p:cNvPr id="15" name="Connector 15"/>
          <p:cNvCxnSpPr/>
          <p:nvPr/>
        </p:nvCxnSpPr>
        <p:spPr>
          <a:xfrm rot="5228255">
            <a:off x="8890000" y="3714909"/>
            <a:ext cx="254000" cy="12700"/>
          </a:xfrm>
          <a:prstGeom prst="straightConnector1">
            <a:avLst/>
          </a:prstGeom>
          <a:solidFill>
            <a:srgbClr val="DEE0E3">
              <a:alpha val="100000"/>
            </a:srgbClr>
          </a:solidFill>
          <a:ln w="12700" cap="flat" cmpd="sng">
            <a:solidFill>
              <a:srgbClr val="64748B">
                <a:alpha val="100000"/>
              </a:srgbClr>
            </a:solidFill>
            <a:prstDash val="solid"/>
            <a:round/>
            <a:headEnd type="none" w="med" len="med"/>
            <a:tailEnd type="arrow" w="med" len="med"/>
          </a:ln>
        </p:spPr>
      </p:cxnSp>
      <p:sp>
        <p:nvSpPr>
          <p:cNvPr id="16" name="AutoShape 16"/>
          <p:cNvSpPr/>
          <p:nvPr/>
        </p:nvSpPr>
        <p:spPr>
          <a:xfrm>
            <a:off x="7112000" y="3898900"/>
            <a:ext cx="3810000" cy="558800"/>
          </a:xfrm>
          <a:prstGeom prst="roundRect">
            <a:avLst>
              <a:gd name="adj" fmla="val 0"/>
            </a:avLst>
          </a:prstGeom>
          <a:solidFill>
            <a:srgbClr val="D4E5F7">
              <a:alpha val="100000"/>
            </a:srgbClr>
          </a:solidFill>
          <a:ln w="12700" cap="flat" cmpd="sng">
            <a:solidFill>
              <a:srgbClr val="003087">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112000" y="4038600"/>
            <a:ext cx="3810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3. 跳过健康分&lt;50 的设备</a:t>
            </a:r>
            <a:endParaRPr lang="en-US" sz="1100"/>
          </a:p>
        </p:txBody>
      </p:sp>
      <p:cxnSp>
        <p:nvCxnSpPr>
          <p:cNvPr id="18" name="Connector 18"/>
          <p:cNvCxnSpPr/>
          <p:nvPr/>
        </p:nvCxnSpPr>
        <p:spPr>
          <a:xfrm rot="5228255">
            <a:off x="8890000" y="4616609"/>
            <a:ext cx="254000" cy="12700"/>
          </a:xfrm>
          <a:prstGeom prst="straightConnector1">
            <a:avLst/>
          </a:prstGeom>
          <a:solidFill>
            <a:srgbClr val="DEE0E3">
              <a:alpha val="100000"/>
            </a:srgbClr>
          </a:solidFill>
          <a:ln w="12700" cap="flat" cmpd="sng">
            <a:solidFill>
              <a:srgbClr val="64748B">
                <a:alpha val="100000"/>
              </a:srgbClr>
            </a:solidFill>
            <a:prstDash val="solid"/>
            <a:round/>
            <a:headEnd type="none" w="med" len="med"/>
            <a:tailEnd type="arrow" w="med" len="med"/>
          </a:ln>
        </p:spPr>
      </p:cxnSp>
      <p:sp>
        <p:nvSpPr>
          <p:cNvPr id="19" name="AutoShape 19"/>
          <p:cNvSpPr/>
          <p:nvPr/>
        </p:nvSpPr>
        <p:spPr>
          <a:xfrm>
            <a:off x="7112000" y="4800600"/>
            <a:ext cx="3810000" cy="558800"/>
          </a:xfrm>
          <a:prstGeom prst="roundRect">
            <a:avLst>
              <a:gd name="adj" fmla="val 0"/>
            </a:avLst>
          </a:prstGeom>
          <a:solidFill>
            <a:srgbClr val="00308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112000" y="4940300"/>
            <a:ext cx="3810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输出排产序列与设备负荷</a:t>
            </a:r>
            <a:endParaRPr lang="en-US" sz="1100"/>
          </a:p>
        </p:txBody>
      </p:sp>
      <p:cxnSp>
        <p:nvCxnSpPr>
          <p:cNvPr id="21" name="Connector 21"/>
          <p:cNvCxnSpPr/>
          <p:nvPr/>
        </p:nvCxnSpPr>
        <p:spPr>
          <a:xfrm rot="-4297">
            <a:off x="1016004" y="5962650"/>
            <a:ext cx="10160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2" name="AutoShape 22"/>
          <p:cNvSpPr/>
          <p:nvPr/>
        </p:nvSpPr>
        <p:spPr>
          <a:xfrm>
            <a:off x="1016000" y="6096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对应课程章节：生产调度优化 · 启发式规则与设备健康约束</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系统界面：五个页面走通完整业务流程</a:t>
            </a:r>
            <a:endParaRPr lang="en-US" sz="1100"/>
          </a:p>
        </p:txBody>
      </p:sp>
      <p:cxnSp>
        <p:nvCxnSpPr>
          <p:cNvPr id="3" name="Connector 3"/>
          <p:cNvCxnSpPr/>
          <p:nvPr/>
        </p:nvCxnSpPr>
        <p:spPr>
          <a:xfrm rot="-85925">
            <a:off x="1016079" y="1263650"/>
            <a:ext cx="508000" cy="12700"/>
          </a:xfrm>
          <a:prstGeom prst="straightConnector1">
            <a:avLst/>
          </a:prstGeom>
          <a:solidFill>
            <a:srgbClr val="DEE0E3">
              <a:alpha val="100000"/>
            </a:srgbClr>
          </a:solidFill>
          <a:ln w="38100" cap="flat" cmpd="sng">
            <a:solidFill>
              <a:srgbClr val="0070BA">
                <a:alpha val="100000"/>
              </a:srgbClr>
            </a:solidFill>
            <a:prstDash val="solid"/>
            <a:round/>
            <a:headEnd type="none" w="lg" len="lg"/>
            <a:tailEnd type="none" w="lg" len="lg"/>
          </a:ln>
        </p:spPr>
      </p:cxnSp>
      <p:sp>
        <p:nvSpPr>
          <p:cNvPr id="4" name="AutoShape 4"/>
          <p:cNvSpPr/>
          <p:nvPr/>
        </p:nvSpPr>
        <p:spPr>
          <a:xfrm>
            <a:off x="1016000" y="1778000"/>
            <a:ext cx="1905000" cy="762000"/>
          </a:xfrm>
          <a:prstGeom prst="roundRect">
            <a:avLst>
              <a:gd name="adj" fmla="val 0"/>
            </a:avLst>
          </a:prstGeom>
          <a:solidFill>
            <a:srgbClr val="D4E5F7">
              <a:alpha val="100000"/>
            </a:srgbClr>
          </a:solidFill>
          <a:ln w="127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68500"/>
            <a:ext cx="1905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① 数据看板</a:t>
            </a:r>
            <a:endParaRPr lang="en-US" sz="1100"/>
          </a:p>
        </p:txBody>
      </p:sp>
      <p:cxnSp>
        <p:nvCxnSpPr>
          <p:cNvPr id="6" name="Connector 6"/>
          <p:cNvCxnSpPr/>
          <p:nvPr/>
        </p:nvCxnSpPr>
        <p:spPr>
          <a:xfrm rot="-171744">
            <a:off x="2946559" y="2152650"/>
            <a:ext cx="254000" cy="12700"/>
          </a:xfrm>
          <a:prstGeom prst="straightConnector1">
            <a:avLst/>
          </a:prstGeom>
          <a:solidFill>
            <a:srgbClr val="DEE0E3">
              <a:alpha val="100000"/>
            </a:srgbClr>
          </a:solidFill>
          <a:ln w="12700" cap="flat" cmpd="sng">
            <a:solidFill>
              <a:srgbClr val="64748B">
                <a:alpha val="100000"/>
              </a:srgbClr>
            </a:solidFill>
            <a:prstDash val="solid"/>
            <a:round/>
            <a:headEnd type="none" w="med" len="med"/>
            <a:tailEnd type="arrow" w="med" len="med"/>
          </a:ln>
        </p:spPr>
      </p:cxnSp>
      <p:sp>
        <p:nvSpPr>
          <p:cNvPr id="7" name="AutoShape 7"/>
          <p:cNvSpPr/>
          <p:nvPr/>
        </p:nvSpPr>
        <p:spPr>
          <a:xfrm>
            <a:off x="3238500" y="1778000"/>
            <a:ext cx="1905000" cy="762000"/>
          </a:xfrm>
          <a:prstGeom prst="roundRect">
            <a:avLst>
              <a:gd name="adj" fmla="val 0"/>
            </a:avLst>
          </a:prstGeom>
          <a:solidFill>
            <a:srgbClr val="D4E5F7">
              <a:alpha val="100000"/>
            </a:srgbClr>
          </a:solidFill>
          <a:ln w="127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3238500" y="1968500"/>
            <a:ext cx="1905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② 质量预测</a:t>
            </a:r>
            <a:endParaRPr lang="en-US" sz="1100"/>
          </a:p>
        </p:txBody>
      </p:sp>
      <p:cxnSp>
        <p:nvCxnSpPr>
          <p:cNvPr id="9" name="Connector 9"/>
          <p:cNvCxnSpPr/>
          <p:nvPr/>
        </p:nvCxnSpPr>
        <p:spPr>
          <a:xfrm rot="-171744">
            <a:off x="5169059" y="2152650"/>
            <a:ext cx="254000" cy="12700"/>
          </a:xfrm>
          <a:prstGeom prst="straightConnector1">
            <a:avLst/>
          </a:prstGeom>
          <a:solidFill>
            <a:srgbClr val="DEE0E3">
              <a:alpha val="100000"/>
            </a:srgbClr>
          </a:solidFill>
          <a:ln w="12700" cap="flat" cmpd="sng">
            <a:solidFill>
              <a:srgbClr val="64748B">
                <a:alpha val="100000"/>
              </a:srgbClr>
            </a:solidFill>
            <a:prstDash val="solid"/>
            <a:round/>
            <a:headEnd type="none" w="med" len="med"/>
            <a:tailEnd type="arrow" w="med" len="med"/>
          </a:ln>
        </p:spPr>
      </p:cxnSp>
      <p:sp>
        <p:nvSpPr>
          <p:cNvPr id="10" name="AutoShape 10"/>
          <p:cNvSpPr/>
          <p:nvPr/>
        </p:nvSpPr>
        <p:spPr>
          <a:xfrm>
            <a:off x="5461000" y="1778000"/>
            <a:ext cx="1905000" cy="762000"/>
          </a:xfrm>
          <a:prstGeom prst="roundRect">
            <a:avLst>
              <a:gd name="adj" fmla="val 0"/>
            </a:avLst>
          </a:prstGeom>
          <a:solidFill>
            <a:srgbClr val="D4E5F7">
              <a:alpha val="100000"/>
            </a:srgbClr>
          </a:solidFill>
          <a:ln w="127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5461000" y="1968500"/>
            <a:ext cx="1905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③ 设备运维</a:t>
            </a:r>
            <a:endParaRPr lang="en-US" sz="1100"/>
          </a:p>
        </p:txBody>
      </p:sp>
      <p:cxnSp>
        <p:nvCxnSpPr>
          <p:cNvPr id="12" name="Connector 12"/>
          <p:cNvCxnSpPr/>
          <p:nvPr/>
        </p:nvCxnSpPr>
        <p:spPr>
          <a:xfrm rot="-171744">
            <a:off x="7391559" y="2152650"/>
            <a:ext cx="254000" cy="12700"/>
          </a:xfrm>
          <a:prstGeom prst="straightConnector1">
            <a:avLst/>
          </a:prstGeom>
          <a:solidFill>
            <a:srgbClr val="DEE0E3">
              <a:alpha val="100000"/>
            </a:srgbClr>
          </a:solidFill>
          <a:ln w="12700" cap="flat" cmpd="sng">
            <a:solidFill>
              <a:srgbClr val="64748B">
                <a:alpha val="100000"/>
              </a:srgbClr>
            </a:solidFill>
            <a:prstDash val="solid"/>
            <a:round/>
            <a:headEnd type="none" w="med" len="med"/>
            <a:tailEnd type="arrow" w="med" len="med"/>
          </a:ln>
        </p:spPr>
      </p:cxnSp>
      <p:sp>
        <p:nvSpPr>
          <p:cNvPr id="13" name="AutoShape 13"/>
          <p:cNvSpPr/>
          <p:nvPr/>
        </p:nvSpPr>
        <p:spPr>
          <a:xfrm>
            <a:off x="7683500" y="1778000"/>
            <a:ext cx="1905000" cy="762000"/>
          </a:xfrm>
          <a:prstGeom prst="roundRect">
            <a:avLst>
              <a:gd name="adj" fmla="val 0"/>
            </a:avLst>
          </a:prstGeom>
          <a:solidFill>
            <a:srgbClr val="00308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683500" y="1968500"/>
            <a:ext cx="1905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④ 智能排产</a:t>
            </a:r>
            <a:endParaRPr lang="en-US" sz="1100"/>
          </a:p>
        </p:txBody>
      </p:sp>
      <p:cxnSp>
        <p:nvCxnSpPr>
          <p:cNvPr id="15" name="Connector 15"/>
          <p:cNvCxnSpPr/>
          <p:nvPr/>
        </p:nvCxnSpPr>
        <p:spPr>
          <a:xfrm rot="-171744">
            <a:off x="9614059" y="2152650"/>
            <a:ext cx="254000" cy="12700"/>
          </a:xfrm>
          <a:prstGeom prst="straightConnector1">
            <a:avLst/>
          </a:prstGeom>
          <a:solidFill>
            <a:srgbClr val="DEE0E3">
              <a:alpha val="100000"/>
            </a:srgbClr>
          </a:solidFill>
          <a:ln w="12700" cap="flat" cmpd="sng">
            <a:solidFill>
              <a:srgbClr val="64748B">
                <a:alpha val="100000"/>
              </a:srgbClr>
            </a:solidFill>
            <a:prstDash val="solid"/>
            <a:round/>
            <a:headEnd type="none" w="med" len="med"/>
            <a:tailEnd type="arrow" w="med" len="med"/>
          </a:ln>
        </p:spPr>
      </p:cxnSp>
      <p:sp>
        <p:nvSpPr>
          <p:cNvPr id="16" name="AutoShape 16"/>
          <p:cNvSpPr/>
          <p:nvPr/>
        </p:nvSpPr>
        <p:spPr>
          <a:xfrm>
            <a:off x="9906000" y="1778000"/>
            <a:ext cx="1270000" cy="762000"/>
          </a:xfrm>
          <a:prstGeom prst="roundRect">
            <a:avLst>
              <a:gd name="adj" fmla="val 0"/>
            </a:avLst>
          </a:prstGeom>
          <a:solidFill>
            <a:srgbClr val="F1F5F9">
              <a:alpha val="100000"/>
            </a:srgbClr>
          </a:solidFill>
          <a:ln w="12700" cap="flat" cmpd="sng">
            <a:solidFill>
              <a:srgbClr val="0070BA">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9906000" y="1968500"/>
            <a:ext cx="127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⑤ 基础数据</a:t>
            </a:r>
            <a:endParaRPr lang="en-US" sz="1100"/>
          </a:p>
        </p:txBody>
      </p:sp>
      <p:sp>
        <p:nvSpPr>
          <p:cNvPr id="18" name="AutoShape 18"/>
          <p:cNvSpPr/>
          <p:nvPr/>
        </p:nvSpPr>
        <p:spPr>
          <a:xfrm>
            <a:off x="1016000" y="3048000"/>
            <a:ext cx="1016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03087"/>
                </a:solidFill>
                <a:latin typeface="Noto Sans SC" panose="020B0200000000000000" charset="-122"/>
                <a:ea typeface="Noto Sans SC" panose="020B0200000000000000" charset="-122"/>
                <a:cs typeface="Noto Sans SC" panose="020B0200000000000000" charset="-122"/>
                <a:sym typeface="Noto Sans SC" panose="020B0200000000000000" charset="-122"/>
              </a:rPr>
              <a:t>各页面功能</a:t>
            </a:r>
            <a:endParaRPr lang="en-US" sz="1100"/>
          </a:p>
        </p:txBody>
      </p:sp>
      <p:sp>
        <p:nvSpPr>
          <p:cNvPr id="19" name="AutoShape 19"/>
          <p:cNvSpPr/>
          <p:nvPr/>
        </p:nvSpPr>
        <p:spPr>
          <a:xfrm>
            <a:off x="1016000" y="3492500"/>
            <a:ext cx="4953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数据看板</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：产量、合格率、平均健康分、预警数四个 KPI，近 7 日合格率趋势，设备状态饼图。</a:t>
            </a:r>
            <a:endParaRPr lang="en-US" sz="1100"/>
          </a:p>
          <a:p>
            <a:pPr marL="0" indent="0" algn="l">
              <a:lnSpc>
                <a:spcPct val="142000"/>
              </a:lnSpc>
            </a:pPr>
            <a:r>
              <a:rPr lang="en-US" sz="13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质量预测</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：录入工艺参数，仪表盘显示缺陷概率，下方影响因子排序条。</a:t>
            </a:r>
            <a:endPar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6223000" y="3492500"/>
            <a:ext cx="4953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设备运维</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：设备列表按健康分着色，点进去看传感器曲线和健康退化曲线。</a:t>
            </a:r>
            <a:endParaRPr lang="en-US" sz="1100"/>
          </a:p>
          <a:p>
            <a:pPr marL="0" indent="0" algn="l">
              <a:lnSpc>
                <a:spcPct val="142000"/>
              </a:lnSpc>
            </a:pPr>
            <a:r>
              <a:rPr lang="en-US" sz="13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智能排产</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：勾选工单生成排产序列与设备负荷；</a:t>
            </a:r>
            <a:r>
              <a:rPr lang="en-US" sz="13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基础数据</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：设备/工单/质检只读列表。</a:t>
            </a:r>
            <a:endPar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1" name="Connector 21"/>
          <p:cNvCxnSpPr/>
          <p:nvPr/>
        </p:nvCxnSpPr>
        <p:spPr>
          <a:xfrm rot="-4297">
            <a:off x="1016004" y="5962650"/>
            <a:ext cx="10160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2" name="AutoShape 22"/>
          <p:cNvSpPr/>
          <p:nvPr/>
        </p:nvSpPr>
        <p:spPr>
          <a:xfrm>
            <a:off x="1016000" y="6096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B/S 全栈：前端图表原生渲染，算法后端真实计算，数据持久化在数据库</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1C54"/>
                </a:solidFill>
                <a:latin typeface="Noto Sans SC" panose="020B0200000000000000" charset="-122"/>
                <a:ea typeface="Noto Sans SC" panose="020B0200000000000000" charset="-122"/>
                <a:cs typeface="Noto Sans SC" panose="020B0200000000000000" charset="-122"/>
                <a:sym typeface="Noto Sans SC" panose="020B0200000000000000" charset="-122"/>
              </a:rPr>
              <a:t>调试：五个真实踩坑，逐个走通才发现</a:t>
            </a:r>
            <a:endParaRPr lang="en-US" sz="1100"/>
          </a:p>
        </p:txBody>
      </p:sp>
      <p:cxnSp>
        <p:nvCxnSpPr>
          <p:cNvPr id="3" name="Connector 3"/>
          <p:cNvCxnSpPr/>
          <p:nvPr/>
        </p:nvCxnSpPr>
        <p:spPr>
          <a:xfrm rot="-85925">
            <a:off x="1016079" y="1263650"/>
            <a:ext cx="508000" cy="12700"/>
          </a:xfrm>
          <a:prstGeom prst="straightConnector1">
            <a:avLst/>
          </a:prstGeom>
          <a:solidFill>
            <a:srgbClr val="DEE0E3">
              <a:alpha val="100000"/>
            </a:srgbClr>
          </a:solidFill>
          <a:ln w="38100" cap="flat" cmpd="sng">
            <a:solidFill>
              <a:srgbClr val="0070BA">
                <a:alpha val="100000"/>
              </a:srgbClr>
            </a:solidFill>
            <a:prstDash val="solid"/>
            <a:round/>
            <a:headEnd type="none" w="lg" len="lg"/>
            <a:tailEnd type="none" w="lg" len="lg"/>
          </a:ln>
        </p:spPr>
      </p:cxnSp>
      <p:sp>
        <p:nvSpPr>
          <p:cNvPr id="4" name="AutoShape 4"/>
          <p:cNvSpPr/>
          <p:nvPr/>
        </p:nvSpPr>
        <p:spPr>
          <a:xfrm>
            <a:off x="1016000" y="17145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　→　原因　→　解决</a:t>
            </a:r>
            <a:endParaRPr lang="en-US" sz="1100"/>
          </a:p>
        </p:txBody>
      </p:sp>
      <p:sp>
        <p:nvSpPr>
          <p:cNvPr id="5" name="AutoShape 5"/>
          <p:cNvSpPr/>
          <p:nvPr/>
        </p:nvSpPr>
        <p:spPr>
          <a:xfrm>
            <a:off x="1016000" y="2095500"/>
            <a:ext cx="38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p:txBody>
      </p:sp>
      <p:sp>
        <p:nvSpPr>
          <p:cNvPr id="6" name="AutoShape 6"/>
          <p:cNvSpPr/>
          <p:nvPr/>
        </p:nvSpPr>
        <p:spPr>
          <a:xfrm>
            <a:off x="1397000" y="2095500"/>
            <a:ext cx="9779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缺陷率快到 60%</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：所有危险概率叠加太高 → 基础概率降到 10%、概率 clip 到 0.9，最终稳定在 37%</a:t>
            </a:r>
            <a:endParaRPr lang="en-US" sz="1100"/>
          </a:p>
        </p:txBody>
      </p:sp>
      <p:sp>
        <p:nvSpPr>
          <p:cNvPr id="7" name="AutoShape 7"/>
          <p:cNvSpPr/>
          <p:nvPr/>
        </p:nvSpPr>
        <p:spPr>
          <a:xfrm>
            <a:off x="1016000" y="2794000"/>
            <a:ext cx="38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8" name="AutoShape 8"/>
          <p:cNvSpPr/>
          <p:nvPr/>
        </p:nvSpPr>
        <p:spPr>
          <a:xfrm>
            <a:off x="1397000" y="2794000"/>
            <a:ext cx="9779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滑动窗口越界报错</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：前 9 步凑不够窗口 → 循环从第 10 步开始，720 条时序得 666 条有效窗口特征</a:t>
            </a:r>
            <a:endParaRPr lang="en-US" sz="1100"/>
          </a:p>
        </p:txBody>
      </p:sp>
      <p:sp>
        <p:nvSpPr>
          <p:cNvPr id="9" name="AutoShape 9"/>
          <p:cNvSpPr/>
          <p:nvPr/>
        </p:nvSpPr>
        <p:spPr>
          <a:xfrm>
            <a:off x="1016000" y="3492500"/>
            <a:ext cx="38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10" name="AutoShape 10"/>
          <p:cNvSpPr/>
          <p:nvPr/>
        </p:nvSpPr>
        <p:spPr>
          <a:xfrm>
            <a:off x="1397000" y="3492500"/>
            <a:ext cx="9779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预警线一上来就全红</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：阈值设 60，6 台里 4 台亮灯 → 调到 70/50/30，只有真退化到后期才告警</a:t>
            </a:r>
            <a:endParaRPr lang="en-US" sz="1100"/>
          </a:p>
        </p:txBody>
      </p:sp>
      <p:sp>
        <p:nvSpPr>
          <p:cNvPr id="11" name="AutoShape 11"/>
          <p:cNvSpPr/>
          <p:nvPr/>
        </p:nvSpPr>
        <p:spPr>
          <a:xfrm>
            <a:off x="1016000" y="4191000"/>
            <a:ext cx="38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12" name="AutoShape 12"/>
          <p:cNvSpPr/>
          <p:nvPr/>
        </p:nvSpPr>
        <p:spPr>
          <a:xfrm>
            <a:off x="1397000" y="4191000"/>
            <a:ext cx="9779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预测分数忽高忽低</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：后端临时算标准化参数，和预处理不一致 → 统一读 preprocessing_summary.json</a:t>
            </a:r>
            <a:endParaRPr lang="en-US" sz="1100"/>
          </a:p>
        </p:txBody>
      </p:sp>
      <p:sp>
        <p:nvSpPr>
          <p:cNvPr id="13" name="AutoShape 13"/>
          <p:cNvSpPr/>
          <p:nvPr/>
        </p:nvSpPr>
        <p:spPr>
          <a:xfrm>
            <a:off x="1016000" y="4889500"/>
            <a:ext cx="38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70BA"/>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14" name="AutoShape 14"/>
          <p:cNvSpPr/>
          <p:nvPr/>
        </p:nvSpPr>
        <p:spPr>
          <a:xfrm>
            <a:off x="1397000" y="4889500"/>
            <a:ext cx="9779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同一时段多工单挤一台设备</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：排产不看负荷 → 加设备负荷检查，时间不再冲突</a:t>
            </a:r>
            <a:endParaRPr lang="en-US" sz="1100"/>
          </a:p>
        </p:txBody>
      </p:sp>
      <p:cxnSp>
        <p:nvCxnSpPr>
          <p:cNvPr id="15" name="Connector 15"/>
          <p:cNvCxnSpPr/>
          <p:nvPr/>
        </p:nvCxnSpPr>
        <p:spPr>
          <a:xfrm rot="-4297">
            <a:off x="1016004" y="5645150"/>
            <a:ext cx="10160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6" name="AutoShape 16"/>
          <p:cNvSpPr/>
          <p:nvPr/>
        </p:nvSpPr>
        <p:spPr>
          <a:xfrm>
            <a:off x="1016000" y="584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这些都不是难题，但不把"录参数→预测→查设备→排产"整条链路跑一遍真发现不了。</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C54">
                <a:alpha val="100000"/>
              </a:srgbClr>
            </a:gs>
            <a:gs pos="100000">
              <a:srgbClr val="003087">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p:txBody>
      </p:sp>
      <p:cxnSp>
        <p:nvCxnSpPr>
          <p:cNvPr id="3" name="Connector 3"/>
          <p:cNvCxnSpPr/>
          <p:nvPr/>
        </p:nvCxnSpPr>
        <p:spPr>
          <a:xfrm rot="-85925">
            <a:off x="1016079" y="1416050"/>
            <a:ext cx="508000" cy="12700"/>
          </a:xfrm>
          <a:prstGeom prst="straightConnector1">
            <a:avLst/>
          </a:prstGeom>
          <a:solidFill>
            <a:srgbClr val="DEE0E3">
              <a:alpha val="100000"/>
            </a:srgbClr>
          </a:solidFill>
          <a:ln w="38100" cap="flat" cmpd="sng">
            <a:solidFill>
              <a:srgbClr val="00B4FF">
                <a:alpha val="100000"/>
              </a:srgbClr>
            </a:solidFill>
            <a:prstDash val="solid"/>
            <a:round/>
            <a:headEnd type="none" w="lg" len="lg"/>
            <a:tailEnd type="none" w="lg" len="lg"/>
          </a:ln>
        </p:spPr>
      </p:cxnSp>
      <p:sp>
        <p:nvSpPr>
          <p:cNvPr id="4" name="AutoShape 4"/>
          <p:cNvSpPr/>
          <p:nvPr/>
        </p:nvSpPr>
        <p:spPr>
          <a:xfrm>
            <a:off x="1016000" y="19050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78C8FF"/>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完成情况</a:t>
            </a:r>
            <a:endParaRPr lang="en-US" sz="1100"/>
          </a:p>
        </p:txBody>
      </p:sp>
      <p:sp>
        <p:nvSpPr>
          <p:cNvPr id="5" name="AutoShape 5"/>
          <p:cNvSpPr/>
          <p:nvPr/>
        </p:nvSpPr>
        <p:spPr>
          <a:xfrm>
            <a:off x="1016000" y="2387600"/>
            <a:ext cx="5080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rPr>
              <a:t>· B/S 全栈可运行 Demo，五层页面完整走通</a:t>
            </a:r>
            <a:endParaRPr lang="en-US" sz="1100"/>
          </a:p>
          <a:p>
            <a:pPr marL="0" indent="0" algn="l">
              <a:lnSpc>
                <a:spcPct val="150000"/>
              </a:lnSpc>
            </a:pPr>
            <a:r>
              <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rPr>
              <a:t>· 覆盖数据 / ML / DL / 调度 四个章节</a:t>
            </a:r>
            <a:endPar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0000"/>
              </a:lnSpc>
            </a:pPr>
            <a:r>
              <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rPr>
              <a:t>· 三个算法模块后端真实计算，非写死结果</a:t>
            </a:r>
            <a:endPar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0000"/>
              </a:lnSpc>
            </a:pPr>
            <a:r>
              <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数据、预处理、文档、prompt 记录齐全</a:t>
            </a:r>
            <a:endPar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350000" y="19050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78C8FF"/>
                </a:solidFill>
                <a:latin typeface="Noto Sans SC" panose="020B0200000000000000" charset="-122"/>
                <a:ea typeface="Noto Sans SC" panose="020B0200000000000000" charset="-122"/>
                <a:cs typeface="Noto Sans SC" panose="020B0200000000000000" charset="-122"/>
                <a:sym typeface="Noto Sans SC" panose="020B0200000000000000" charset="-122"/>
              </a:rPr>
              <a:t>不足与后续方向</a:t>
            </a:r>
            <a:endParaRPr lang="en-US" sz="1100"/>
          </a:p>
        </p:txBody>
      </p:sp>
      <p:sp>
        <p:nvSpPr>
          <p:cNvPr id="7" name="AutoShape 7"/>
          <p:cNvSpPr/>
          <p:nvPr/>
        </p:nvSpPr>
        <p:spPr>
          <a:xfrm>
            <a:off x="6350000" y="2387600"/>
            <a:ext cx="5080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rPr>
              <a:t>· 质量预测目前用规则，后续训练真实 XGBoost</a:t>
            </a:r>
            <a:endParaRPr lang="en-US" sz="1100"/>
          </a:p>
          <a:p>
            <a:pPr marL="0" indent="0" algn="l">
              <a:lnSpc>
                <a:spcPct val="150000"/>
              </a:lnSpc>
            </a:pPr>
            <a:r>
              <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rPr>
              <a:t>· 设备模块借了 LSTM 退化思路，后续接完整 RUL 预测</a:t>
            </a:r>
            <a:endPar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0000"/>
              </a:lnSpc>
            </a:pPr>
            <a:r>
              <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数据量偏小，可直接用 C-MAPSS 真实数据扩充</a:t>
            </a:r>
            <a:endPar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0000"/>
              </a:lnSpc>
            </a:pPr>
            <a:r>
              <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rPr>
              <a:t>· 排产可从规则升级为遗传算法等优化方法</a:t>
            </a:r>
            <a:endParaRPr lang="en-US" sz="1400" b="0" i="0" u="none" strike="noStrike">
              <a:solidFill>
                <a:srgbClr val="DCE8F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4297">
            <a:off x="1016004" y="5708650"/>
            <a:ext cx="10160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9" name="AutoShape 9"/>
          <p:cNvSpPr/>
          <p:nvPr/>
        </p:nvSpPr>
        <p:spPr>
          <a:xfrm>
            <a:off x="1016000" y="59436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B4C8E6"/>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课程作业先把"数据—预测—维护—排产"这条链路跑通，后续逐个模块加深。</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2929</Words>
  <Application>WPS 演示</Application>
  <PresentationFormat/>
  <Paragraphs>307</Paragraphs>
  <Slides>12</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12</vt:i4>
      </vt:variant>
    </vt:vector>
  </HeadingPairs>
  <TitlesOfParts>
    <vt:vector size="21"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恋歌*</cp:lastModifiedBy>
  <cp:revision>1</cp:revision>
  <dcterms:created xsi:type="dcterms:W3CDTF">2026-09-14T05:10:23Z</dcterms:created>
  <dcterms:modified xsi:type="dcterms:W3CDTF">2026-09-14T05:10:23Z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B257BE9385504479815D8329A933E689_13</vt:lpwstr>
  </property>
</Properties>
</file>